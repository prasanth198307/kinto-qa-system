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2000" cy="1481328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0"/>
            <a:ext cx="4416552" cy="5303520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0"/>
            <a:ext cx="54864" cy="5303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56032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Manufacturing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ERP Platform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Manufacturers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HR &amp; Payroll · GST Invoicing · CRM · Accounting · WhatsApp · MIS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822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46720" y="1298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Modules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19019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467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29809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4672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0599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46720" y="4535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Sales Presentation  |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www.kintoops.in  |  hello@kintoops.in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Indian Manufacturers 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tracked on Excel, inventory on paper, accounts in Tally — no single source of truth.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get weekly/monthly reports. By the time they act, the problem has grown.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Compliance Burden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4788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 creation, error-prone GST calculations, last-minute filing stress every month.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Done Manually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 registers, payroll on Excel, payslips printed by hand — error-prone and time-consuming.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1596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leads tracked on WhatsApp or notebooks. Follow-ups missed. Deals lost without knowing why.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ESS for Employees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788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call HR for payslips, leave balances, tax info. HR spends hours on routine queries.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Everything Connected.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 replaces every tool your factory uses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2377440"/>
            <a:ext cx="2651760" cy="2651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8346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7432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Accounting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41148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3716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ESS Portal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27432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41148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6 different tools with one integrated cloud ERP — no more data silos.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Integrated Modules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factory needs — all in one place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28616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78624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28632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&amp; Gatepasses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Returns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78608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Accounting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28616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78624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28632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8632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Cash Register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78608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28616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0216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278624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78624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50224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650224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628632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28632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1000232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11000232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Operations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material to finished goods — fully tracked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8016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BOM-Driven Production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Bills of Materials for each product. Production entries auto-calculate material consumption.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7160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Batch Tracking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62763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deducted using First-In-First-Out batches. Full traceability from GRN to dispatch.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6324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31927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return workflow — inspection, rejection, and restocking with audit trail.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6324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 &amp; Dispatch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31927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Invoice-first dispatch with digital signatures. State machine prevents tampering after issue.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54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5010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management, GRN against PO, debit notes, and raw material traceability.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54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5010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Machine-wise schedules, checklist tracking, spare part inventory, and overdue alerts.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GST-compliant, audit-ready, real-time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tax invoices with GSTIN validation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notes, debit notes, and receipt vouchers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Chart of Accounts (COA)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statement — real-time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— live, no month-end closing needed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advances with auto-adjustment on invoices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debit note adjustments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register with daily voucher printing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 with category-wise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32588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19088" y="158191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KPIs, production efficiency, cash flow, inventory turnover — no Excel needed.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301752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10896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9088" y="336499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customer, product, and period. Overdue receivables at a glance.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480060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489204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Reports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9088" y="514807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GSTR-ready summaries exportable for direct filing.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employee lifecycle management — NEW in Enterprise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234440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581912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form: personal, employment, statutory, bank, and family details. Department, designation &amp; shift masters.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1581912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tracking, monthly calendar view, late/absent reports.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24328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880360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types, approval workflows, WhatsApp notifications, EL year-end carry-forward.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532888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624328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2880360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structures with Basic/HRA/DA components, PF/ESI auto-calc, PT from state slabs.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31336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922776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Compliance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17880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TDS projection (Old &amp; New regime), investment declaration (80C/80D/HRA), Form 16 Part A+B.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831336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922776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417880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openings with Kanban pipeline, candidate applications, and stage tracking.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5129784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5221224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&amp; Final Settlement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5477256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pending salary, EL encashment, gratuity, and notice recovery.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5129784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5221224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Delivery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7648" y="5477256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payslip delivery via WhatsApp and Email — one click.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sales opportunity — NEW in Professional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1170432"/>
            <a:ext cx="1170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Lead Pipeline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leads across pipeline stages visually. Instantly see where every deal stands.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6052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024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7024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and export your entire lead list for reporting and analysis.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9244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0216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company, phone, email, source, product interest, follow-up date, notes.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Assignment-Based Access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leads to sales reps. Reps only see and edit their own leads. Managers see all.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6052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024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Tracking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7024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next follow-up dates. Never let a lead go cold.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9244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0216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0216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by stage — instant visibility into your sales funnel health.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(ESS) Portal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your employees — reduce HR workload — NEW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Employees Can 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print payslips for any month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monthly attendance records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leave balances and apply for leave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tax investment declarations (80C / 80D / HRA)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their own profile and employment details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leave approval status in real-time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486400" cy="5394960"/>
          </a:xfrm>
          <a:prstGeom prst="rect">
            <a:avLst>
              <a:gd name="adj" fmla="val 1695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HR Gains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8470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payslip queries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0528" y="20848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download their own payslips anytime.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288036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9443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leave calls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0528" y="31821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balances visible to employees 24x7.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40416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tax declarations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0528" y="42793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submit 80C/80D data online — no forms.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507492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51389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ESS control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53766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enables ESS per employee and sets their login password.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 portal — employees never access your main ERP.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Workflows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factory floor runs on WhatsApp — so does Kinto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Startup Checklists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receive daily checklists on WhatsApp. Answers captured, AI-interpreted, and logged automatically — no app required.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Notifications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employee applies for leave, the approver gets a WhatsApp message instantly. No email delays.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Delivery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payslips to all employees via WhatsApp in one click. Individually or in bulk — every month.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Checklist Alerts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Auto-reminders if an operator hasn't completed their startup checklist by the scheduled time.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Expiry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WhatsApp alerts before quality certificates, vendor contracts, or compliance documents expire.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Responses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Colloki Flow AI interprets operator WhatsApp replies and flags anomalies for supervisors.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Kinto Smart Ops?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Indian manufacturing — not a global ERP adapted for India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GST Built-In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validation, tax invoices, e-way bills, GSTR-ready reports. Designed for Indian compliance from day one — not an afterthought.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Native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operators already use WhatsApp. Kinto meets them there — checklists, alerts, payslips all via WhatsApp.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73+ screens with granular permissions per role. Admin, Manager, Accountant, Operator — each sees only what they need.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completely isolated. Every tenant gets their own secure workspace on our cloud platform.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Plan-Gated Modules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you need, scale as you grow. Upgrade plans to unlock HR &amp; Payroll, CRM, and more.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Onboarding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trial. No credit card. Most teams are live within a week with guided setup.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a 14-day free trial · No credit card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5740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 users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 &amp; receipts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sales orders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Gatepasses &amp; dispatch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documents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1E3A5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1051560"/>
            <a:ext cx="1828800" cy="320040"/>
          </a:xfrm>
          <a:prstGeom prst="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4340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34340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89788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base users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4340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7083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455371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Basic features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7083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455371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BOM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7083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5371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accounting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7083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5371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 dashboards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7083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55371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7083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455371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checklists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70832" y="502920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553712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70832" y="541324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4553712" y="5367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4672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8388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18388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₹2,599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973836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8388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base users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18388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1131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839419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Professional features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21131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839419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module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21131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1" name="Text 59"/>
          <p:cNvSpPr/>
          <p:nvPr/>
        </p:nvSpPr>
        <p:spPr>
          <a:xfrm>
            <a:off x="839419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portal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21131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3" name="Text 61"/>
          <p:cNvSpPr/>
          <p:nvPr/>
        </p:nvSpPr>
        <p:spPr>
          <a:xfrm>
            <a:off x="839419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compliance (Form 16)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21131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5" name="Text 63"/>
          <p:cNvSpPr/>
          <p:nvPr/>
        </p:nvSpPr>
        <p:spPr>
          <a:xfrm>
            <a:off x="839419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management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21131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7" name="Text 65"/>
          <p:cNvSpPr/>
          <p:nvPr/>
        </p:nvSpPr>
        <p:spPr>
          <a:xfrm>
            <a:off x="839419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211312" y="502920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9" name="Text 67"/>
          <p:cNvSpPr/>
          <p:nvPr/>
        </p:nvSpPr>
        <p:spPr>
          <a:xfrm>
            <a:off x="8394192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65760" y="649224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custom plan for large enterprises? Contact us: hello@kintoops.in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Indian Manufacturers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feedback from real customers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"Kinto Smart Ops transformed how we track production. Real-time inventory and GST invoicing in one place — we cut our month-end closing time from 3 days to 4 hours."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Sharma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Precision Parts Mfg.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6052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HR &amp; Payroll module with automated TDS calculations and payslip delivery via WhatsApp saved us days every month. Employees no longer call us for payslip queries."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Patel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Alpha Industries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9244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purchase orders to dispatch gatepasses, everything flows seamlessly. The CRM pipeline helped us recover 3 deals we had forgotten about. Our team adopted it within a week."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Kumar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Head, Bharat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2352"/>
            <a:ext cx="12192000" cy="1755648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Modernise Your Factory?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hundreds of Indian manufacturers already using Kinto Smart Ops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their operations end-to-end.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2563E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required.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 at kintoops.in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162D4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live walkthrough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factory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162D4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hello@kintoops.in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XXXXX XXXXX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www.kintoops.in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· Made in India · hello@kintoops.in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 to the Competition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Indian manufacturing — not adapted from a global product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1188720"/>
            <a:ext cx="25603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188720"/>
            <a:ext cx="18288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26280" y="1188720"/>
            <a:ext cx="16459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/ Busy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16459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Books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1188720"/>
            <a:ext cx="20116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B1 / MS Dynamics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829800" y="1188720"/>
            <a:ext cx="16459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 / Marg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" y="155448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155448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GST Built-In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1554480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5544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155448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554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155448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554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18120" y="1554480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55448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829800" y="155448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1554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Basic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1993392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199339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BOM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97480" y="1993392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199339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26280" y="19933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9933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72200" y="19933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9933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818120" y="1993392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199339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829800" y="19933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19933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2432304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243230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97480" y="2432304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243230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Native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26280" y="2432304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24323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72200" y="2432304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24323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818120" y="2432304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24323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829800" y="2432304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75520" y="24323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37160" y="287121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" y="287121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Built-In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97480" y="2871216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0" y="287121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26280" y="287121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28712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72200" y="287121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0" y="28712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818120" y="2871216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63840" y="28712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829800" y="287121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75520" y="28712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37160" y="3310128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33101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697480" y="3310128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0" y="33101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526280" y="3310128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33101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172200" y="3310128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17920" y="33101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Separate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818120" y="3310128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63840" y="33101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829800" y="3310128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75520" y="33101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37160" y="3749040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82880" y="374904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Portal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697480" y="3749040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0" y="37490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526280" y="37490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0" y="37490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172200" y="37490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17920" y="37490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818120" y="374904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63840" y="374904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9829800" y="37490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875520" y="37490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37160" y="4187952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82880" y="418795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697480" y="4187952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0" y="41879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526280" y="4187952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0" y="41879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172200" y="4187952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17920" y="41879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818120" y="4187952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63840" y="418795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9829800" y="4187952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875520" y="41879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37160" y="4626864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2880" y="462686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(SaaS)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697480" y="4626864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743200" y="462686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526280" y="462686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72000" y="46268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Hybrid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6172200" y="462686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17920" y="46268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7818120" y="462686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63840" y="462686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9829800" y="462686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875520" y="46268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Mobile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37160" y="5065776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82880" y="50657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697480" y="5065776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743200" y="506577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week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4526280" y="5065776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0" y="50657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172200" y="5065776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217920" y="50657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7818120" y="5065776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863840" y="506577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9829800" y="5065776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875520" y="50657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days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137160" y="5504688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82880" y="550468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697480" y="5504688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743200" y="550468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₹999/mo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4526280" y="550468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72000" y="5504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₹18k/yr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6172200" y="550468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217920" y="5504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₹999/mo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7818120" y="5504688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863840" y="550468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₹2L+/yr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9829800" y="550468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875520" y="5504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₹1,099/yr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37160" y="594360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82880" y="594360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2697480" y="5943600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743200" y="594360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4526280" y="594360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572000" y="59436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6172200" y="594360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217920" y="59436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7818120" y="5943600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863840" y="594360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9829800" y="594360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875520" y="59436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2697480" y="118872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3" name="Shape 151"/>
          <p:cNvSpPr/>
          <p:nvPr/>
        </p:nvSpPr>
        <p:spPr>
          <a:xfrm>
            <a:off x="2697480" y="6327648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4" name="Text 152"/>
          <p:cNvSpPr/>
          <p:nvPr/>
        </p:nvSpPr>
        <p:spPr>
          <a:xfrm>
            <a:off x="137160" y="6473952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 is the only solution that covers Manufacturing + HR &amp; Payroll + CRM + WhatsApp natively in a single platform.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Choose Kinto Smart 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unfair advantages — things no competitor does as well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3444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134416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34416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ERP with Native WhatsApp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" y="1783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Indian ERP has WhatsApp baked in. Operators submit checklists, receive payslips, and get alerts — all on WhatsApp. Zero app downloads required.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34416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134416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+ HR + CRM in One Price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27648" y="1783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charge separately for manufacturing, HR, and CRM modules — or require different products. Kinto gives all three in one subscription.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01752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312724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12724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Manufacturing from Day One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" y="3566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PT state slabs, TDS old/new regime, PF/ESI — all built-in. Not an afterthought or a plugin. Designed specifically for how Indian factories operate.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312724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312724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No One Else Offers at This Price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27648" y="3566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 portals cost lakhs with SAP or Oracle. Kinto includes a full ESS portal — payslips, leave, tax declarations — in the Enterprise plan at ₹2,599/month.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80060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" y="491032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" y="4910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9103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Time-to-Value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" y="5349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are live within a week. No 6-month implementation projects, no consultants, no server setup. Start free trial today — go live next Monday.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80060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491032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4910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49103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Pricing, No Hidden Costs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27648" y="5349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monthly price + ₹100–150 per extra user. No modules sold separately. No yearly lock-in forced on you. Cancel anytime.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 Is Clear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saved. Errors eliminated. Revenue protected.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34440"/>
            <a:ext cx="2743200" cy="1920240"/>
          </a:xfrm>
          <a:prstGeom prst="rect">
            <a:avLst>
              <a:gd name="adj" fmla="val 4762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71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2029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hrs/month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on payroll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work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82112" y="1234440"/>
            <a:ext cx="2743200" cy="1920240"/>
          </a:xfrm>
          <a:prstGeom prst="rect">
            <a:avLst>
              <a:gd name="adj" fmla="val 4762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1371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182112" y="2029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82112" y="2304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GST invoice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rework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1234440"/>
            <a:ext cx="2743200" cy="1920240"/>
          </a:xfrm>
          <a:prstGeom prst="rect">
            <a:avLst>
              <a:gd name="adj" fmla="val 4762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089904" y="1371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89904" y="2029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9904" y="2304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manual Excel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97696" y="1234440"/>
            <a:ext cx="2743200" cy="1920240"/>
          </a:xfrm>
          <a:prstGeom prst="rect">
            <a:avLst>
              <a:gd name="adj" fmla="val 4762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97696" y="1371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997696" y="2029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97696" y="2304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WhatsApp, HR,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vs competitors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3337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Kinto  vs  After Kinto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749040"/>
            <a:ext cx="5303520" cy="457200"/>
          </a:xfrm>
          <a:prstGeom prst="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49040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Payroll calculated on Excel — errors, corrections, delays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3560" y="3749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3749040"/>
            <a:ext cx="5577840" cy="457200"/>
          </a:xfrm>
          <a:prstGeom prst="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3749040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Auto-calculated payroll with PF/ESI/TDS — one-click payslips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279392"/>
            <a:ext cx="5303520" cy="457200"/>
          </a:xfrm>
          <a:prstGeom prst="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279392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GST invoices made manually — wrong tax codes, filing stress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23560" y="42793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0" y="4279392"/>
            <a:ext cx="5577840" cy="457200"/>
          </a:xfrm>
          <a:prstGeom prst="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4279392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GST-validated invoices auto-generated from sales orders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809744"/>
            <a:ext cx="5303520" cy="457200"/>
          </a:xfrm>
          <a:prstGeom prst="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809744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Sales leads tracked on WhatsApp chats — deals forgotten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480974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43600" y="4809744"/>
            <a:ext cx="5577840" cy="457200"/>
          </a:xfrm>
          <a:prstGeom prst="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4809744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CRM pipeline with follow-up dates — zero leads slip through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5340096"/>
            <a:ext cx="5303520" cy="457200"/>
          </a:xfrm>
          <a:prstGeom prst="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5340096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Employees call HR for payslips, leave balance, Form 16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23560" y="5340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0" y="5340096"/>
            <a:ext cx="5577840" cy="457200"/>
          </a:xfrm>
          <a:prstGeom prst="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5340096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Employees access everything self-serve — HR freed up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5870448"/>
            <a:ext cx="5303520" cy="457200"/>
          </a:xfrm>
          <a:prstGeom prst="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5870448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Machine checklists on paper — no digital record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23560" y="587044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43600" y="5870448"/>
            <a:ext cx="5577840" cy="457200"/>
          </a:xfrm>
          <a:prstGeom prst="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53328" y="5870448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WhatsApp checklists — auto-logged, AI-interpreted, auditable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Safe With 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— at an SME price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34440"/>
            <a:ext cx="3749040" cy="2176272"/>
          </a:xfrm>
          <a:prstGeom prst="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32588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Isolation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581912"/>
            <a:ext cx="352958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gets its own isolated database space. Your data is never mixed with any other tenant. Even our engineers cannot accidentally access your records.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60520" y="1234440"/>
            <a:ext cx="3749040" cy="2176272"/>
          </a:xfrm>
          <a:prstGeom prst="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32588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Backups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70248" y="1581912"/>
            <a:ext cx="352958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backups run every night. Last 30 backups retained. Pre-deletion backups triggered before any major change. Restore any data from any point in time.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2440" y="1234440"/>
            <a:ext cx="3749040" cy="2176272"/>
          </a:xfrm>
          <a:prstGeom prst="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32588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02168" y="1581912"/>
            <a:ext cx="352958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73+ screens with granular permissions. Each user sees only what their role allows. Full audit log of every action taken — who changed what and when.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566160"/>
            <a:ext cx="3749040" cy="2176272"/>
          </a:xfrm>
          <a:prstGeom prst="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657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913632"/>
            <a:ext cx="352958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industry-standard scrypt. Session management with 7-day expiry. Secure cookies with SameSite and Secure flags enforced.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3566160"/>
            <a:ext cx="3749040" cy="2176272"/>
          </a:xfrm>
          <a:prstGeom prst="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3657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70248" y="3913632"/>
            <a:ext cx="352958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enterprise-grade cloud infrastructure with 99.9% uptime SLA. No server to manage, no IT team needed, always on the latest version.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2440" y="3566160"/>
            <a:ext cx="3749040" cy="2176272"/>
          </a:xfrm>
          <a:prstGeom prst="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2168" y="3657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02168" y="3913632"/>
            <a:ext cx="352958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data change, and permission update is logged with user identity, timestamp, and IP. Full compliance trail for internal and external audits.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Is Simple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are fully live within one week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231136"/>
            <a:ext cx="932688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261872"/>
            <a:ext cx="1280160" cy="274320"/>
          </a:xfrm>
          <a:prstGeom prst="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261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697480"/>
            <a:ext cx="2834640" cy="3749040"/>
          </a:xfrm>
          <a:prstGeom prst="rect">
            <a:avLst>
              <a:gd name="adj" fmla="val 2581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2788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&amp; Company Setup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" y="3246120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company (2 minutes)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" y="390448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GSTIN, address, logo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62686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" y="4562856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your team members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528523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" y="5221224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roles and permissions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77640" y="19202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39776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0" y="1261872"/>
            <a:ext cx="1280160" cy="274320"/>
          </a:xfrm>
          <a:prstGeom prst="rect">
            <a:avLst>
              <a:gd name="adj" fmla="val 20000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1261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2697480"/>
            <a:ext cx="2834640" cy="3749040"/>
          </a:xfrm>
          <a:prstGeom prst="rect">
            <a:avLst>
              <a:gd name="adj" fmla="val 2581"/>
            </a:avLst>
          </a:prstGeom>
          <a:solidFill>
            <a:srgbClr val="F8FAFC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788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&amp; Configuration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310128"/>
            <a:ext cx="128016" cy="12801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511296" y="3246120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products, raw materials, vendors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3968496"/>
            <a:ext cx="128016" cy="12801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3511296" y="390448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salary structures for payroll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37560" y="4626864"/>
            <a:ext cx="128016" cy="12801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511296" y="4562856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Chart of Accounts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37560" y="5285232"/>
            <a:ext cx="128016" cy="12801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511296" y="5221224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existing data if needed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49440" y="1920240"/>
            <a:ext cx="640080" cy="64008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29400" y="1261872"/>
            <a:ext cx="1280160" cy="274320"/>
          </a:xfrm>
          <a:prstGeom prst="rect">
            <a:avLst>
              <a:gd name="adj" fmla="val 20000"/>
            </a:avLst>
          </a:prstGeom>
          <a:solidFill>
            <a:srgbClr val="0369A1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1261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2697480"/>
            <a:ext cx="2834640" cy="3749040"/>
          </a:xfrm>
          <a:prstGeom prst="rect">
            <a:avLst>
              <a:gd name="adj" fmla="val 2581"/>
            </a:avLst>
          </a:prstGeom>
          <a:solidFill>
            <a:srgbClr val="F8FAFC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81928" y="2788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on Core Operations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3310128"/>
            <a:ext cx="128016" cy="1280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4" name="Text 42"/>
          <p:cNvSpPr/>
          <p:nvPr/>
        </p:nvSpPr>
        <p:spPr>
          <a:xfrm>
            <a:off x="6483096" y="3246120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raising GST invoices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09360" y="3968496"/>
            <a:ext cx="128016" cy="1280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6" name="Text 44"/>
          <p:cNvSpPr/>
          <p:nvPr/>
        </p:nvSpPr>
        <p:spPr>
          <a:xfrm>
            <a:off x="6483096" y="390448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purchase orders &amp; GRNs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09360" y="4626864"/>
            <a:ext cx="128016" cy="1280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8" name="Text 46"/>
          <p:cNvSpPr/>
          <p:nvPr/>
        </p:nvSpPr>
        <p:spPr>
          <a:xfrm>
            <a:off x="6483096" y="4562856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production entries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5285232"/>
            <a:ext cx="128016" cy="1280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0" name="Text 48"/>
          <p:cNvSpPr/>
          <p:nvPr/>
        </p:nvSpPr>
        <p:spPr>
          <a:xfrm>
            <a:off x="6483096" y="5221224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WhatsApp checklists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921240" y="192024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99212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601200" y="1261872"/>
            <a:ext cx="1280160" cy="274320"/>
          </a:xfrm>
          <a:prstGeom prst="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0" y="1261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144000" y="2697480"/>
            <a:ext cx="2834640" cy="3749040"/>
          </a:xfrm>
          <a:prstGeom prst="rect">
            <a:avLst>
              <a:gd name="adj" fmla="val 2581"/>
            </a:avLst>
          </a:prstGeom>
          <a:solidFill>
            <a:srgbClr val="F8FAFC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53728" y="2788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CRM &amp; Advanced Modules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281160" y="331012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8" name="Text 56"/>
          <p:cNvSpPr/>
          <p:nvPr/>
        </p:nvSpPr>
        <p:spPr>
          <a:xfrm>
            <a:off x="9454896" y="3246120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employees &amp; run first payroll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281160" y="396849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0" name="Text 58"/>
          <p:cNvSpPr/>
          <p:nvPr/>
        </p:nvSpPr>
        <p:spPr>
          <a:xfrm>
            <a:off x="9454896" y="390448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sales leads to CRM pipeline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281160" y="462686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2" name="Text 60"/>
          <p:cNvSpPr/>
          <p:nvPr/>
        </p:nvSpPr>
        <p:spPr>
          <a:xfrm>
            <a:off x="9454896" y="4562856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ESS for employees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281160" y="528523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4" name="Text 62"/>
          <p:cNvSpPr/>
          <p:nvPr/>
        </p:nvSpPr>
        <p:spPr>
          <a:xfrm>
            <a:off x="9454896" y="5221224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first MIS dashboard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4320" y="649224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 Our onboarding team is available via chat and email throughout your setup.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2026-04-09T16:11:43Z</dcterms:created>
  <dcterms:modified xsi:type="dcterms:W3CDTF">2026-04-09T16:11:43Z</dcterms:modified>
</cp:coreProperties>
</file>