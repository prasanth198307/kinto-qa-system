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303520"/>
            <a:ext cx="1219200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376672"/>
            <a:ext cx="12192000" cy="1481328"/>
          </a:xfrm>
          <a:prstGeom prst="rect">
            <a:avLst/>
          </a:prstGeom>
          <a:solidFill>
            <a:srgbClr val="162D4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0" y="0"/>
            <a:ext cx="4416552" cy="5303520"/>
          </a:xfrm>
          <a:prstGeom prst="rect">
            <a:avLst/>
          </a:prstGeom>
          <a:solidFill>
            <a:srgbClr val="162D4B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0" y="0"/>
            <a:ext cx="54864" cy="53035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005840"/>
            <a:ext cx="256032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05840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Indian Manufacturing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7040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 Smart Ops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457200" y="2423160"/>
            <a:ext cx="7040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ERP Platform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Indian Manufacturers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" y="338328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· HR &amp; Payroll · GST Invoicing · CRM · Accounting · WhatsApp · MIS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82296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46720" y="12984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Modules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0" y="1901952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046720" y="23774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2980944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046720" y="34564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46720" y="4059936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46720" y="453542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|  Sales Presentation  |  2026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www.kintoops.in  |  hello@kintoops.in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 Indian Manufacturers Face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8016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71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Scattered Data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62763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tracked on Excel, inventory on paper, accounts in Tally — no single source of truth.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06240" y="128016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15968" y="1371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Visibility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15968" y="162763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get weekly/monthly reports. By the time they act, the problem has grown.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0" y="128016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371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Compliance Burden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47888" y="162763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invoice creation, error-prone GST calculations, last-minute filing stress every month.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4320" y="320040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329184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Done Manually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354787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in registers, payroll on Excel, payslips printed by hand — error-prone and time-consuming.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206240" y="320040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15968" y="329184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CRM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15968" y="354787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leads tracked on WhatsApp or notebooks. Follow-ups missed. Deals lost without knowing why.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138160" y="3200400"/>
            <a:ext cx="3749040" cy="1737360"/>
          </a:xfrm>
          <a:prstGeom prst="rect">
            <a:avLst>
              <a:gd name="adj" fmla="val 42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47888" y="329184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ESS for Employees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47888" y="3547872"/>
            <a:ext cx="352958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call HR for payslips, leave balances, tax info. HR spends hours on routine queries.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Platform. Everything Connected.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 Smart Ops replaces every tool your factory uses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4754880" y="2377440"/>
            <a:ext cx="2651760" cy="265176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4754880" y="2834640"/>
            <a:ext cx="2651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Ops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182880" y="13716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2880" y="27432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3" name="Text 11"/>
          <p:cNvSpPr/>
          <p:nvPr/>
        </p:nvSpPr>
        <p:spPr>
          <a:xfrm>
            <a:off x="182880" y="27432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Invoicing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Accounting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82880" y="41148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182880" y="41148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0" y="13716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0" y="13716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ESS Portal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772400" y="27432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0" y="27432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Pipeline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0" y="4114800"/>
            <a:ext cx="2286000" cy="822960"/>
          </a:xfrm>
          <a:prstGeom prst="rect">
            <a:avLst>
              <a:gd name="adj" fmla="val 8889"/>
            </a:avLst>
          </a:prstGeom>
          <a:solidFill>
            <a:srgbClr val="2563EB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0" y="41148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&amp;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Analytics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6 different tools with one integrated cloud ERP — no more data silos.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 Integrated Modules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your factory needs — all in one place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12344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3258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Management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78608" y="12344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78608" y="13258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Control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28616" y="12344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28616" y="13258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78624" y="12344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13258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Invoicing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628632" y="12344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28632" y="13258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 &amp; Gatepasses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28600" y="28346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29260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&amp; Returns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578608" y="28346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78608" y="29260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Accounting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928616" y="28346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28616" y="29260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Analytics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278624" y="28346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78624" y="29260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628632" y="28346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28632" y="29260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Integration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28600" y="44348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45262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 &amp; Cash Register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578608" y="4434840"/>
            <a:ext cx="2194560" cy="1417320"/>
          </a:xfrm>
          <a:prstGeom prst="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78608" y="45262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Management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928616" y="4434840"/>
            <a:ext cx="2194560" cy="1417320"/>
          </a:xfrm>
          <a:prstGeom prst="rect">
            <a:avLst>
              <a:gd name="adj" fmla="val 5161"/>
            </a:avLst>
          </a:prstGeom>
          <a:solidFill>
            <a:srgbClr val="1E3A5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28616" y="45262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Lead Management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0216" y="4297680"/>
            <a:ext cx="640080" cy="201168"/>
          </a:xfrm>
          <a:prstGeom prst="rect">
            <a:avLst>
              <a:gd name="adj" fmla="val 18182"/>
            </a:avLst>
          </a:prstGeom>
          <a:solidFill>
            <a:srgbClr val="F59E0B"/>
          </a:solidFill>
          <a:ln/>
        </p:spPr>
      </p:sp>
      <p:sp>
        <p:nvSpPr>
          <p:cNvPr id="35" name="Text 33"/>
          <p:cNvSpPr/>
          <p:nvPr/>
        </p:nvSpPr>
        <p:spPr>
          <a:xfrm>
            <a:off x="6300216" y="429768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7278624" y="4434840"/>
            <a:ext cx="2194560" cy="1417320"/>
          </a:xfrm>
          <a:prstGeom prst="rect">
            <a:avLst>
              <a:gd name="adj" fmla="val 5161"/>
            </a:avLst>
          </a:prstGeom>
          <a:solidFill>
            <a:srgbClr val="1E3A5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8624" y="45262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650224" y="4297680"/>
            <a:ext cx="640080" cy="201168"/>
          </a:xfrm>
          <a:prstGeom prst="rect">
            <a:avLst>
              <a:gd name="adj" fmla="val 18182"/>
            </a:avLst>
          </a:prstGeom>
          <a:solidFill>
            <a:srgbClr val="F59E0B"/>
          </a:solidFill>
          <a:ln/>
        </p:spPr>
      </p:sp>
      <p:sp>
        <p:nvSpPr>
          <p:cNvPr id="39" name="Text 37"/>
          <p:cNvSpPr/>
          <p:nvPr/>
        </p:nvSpPr>
        <p:spPr>
          <a:xfrm>
            <a:off x="8650224" y="429768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9628632" y="4434840"/>
            <a:ext cx="2194560" cy="1417320"/>
          </a:xfrm>
          <a:prstGeom prst="rect">
            <a:avLst>
              <a:gd name="adj" fmla="val 5161"/>
            </a:avLst>
          </a:prstGeom>
          <a:solidFill>
            <a:srgbClr val="1E3A5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28632" y="4526280"/>
            <a:ext cx="2194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1000232" y="4297680"/>
            <a:ext cx="640080" cy="201168"/>
          </a:xfrm>
          <a:prstGeom prst="rect">
            <a:avLst>
              <a:gd name="adj" fmla="val 18182"/>
            </a:avLst>
          </a:prstGeom>
          <a:solidFill>
            <a:srgbClr val="F59E0B"/>
          </a:solidFill>
          <a:ln/>
        </p:spPr>
      </p:sp>
      <p:sp>
        <p:nvSpPr>
          <p:cNvPr id="43" name="Text 41"/>
          <p:cNvSpPr/>
          <p:nvPr/>
        </p:nvSpPr>
        <p:spPr>
          <a:xfrm>
            <a:off x="11000232" y="429768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Operations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material to finished goods — fully tracked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8016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7160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BOM-Driven Production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62763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Bills of Materials for each product. Production entries auto-calculate material consumption.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37160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FIFO Batch Tracking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27648" y="162763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deducted using First-In-First-Out batches. Full traceability from GRN to dispatch.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97180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6324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" y="331927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Three-stage return workflow — inspection, rejection, and restocking with audit trail.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17920" y="297180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306324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Gatepass &amp; Dispatch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31927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Invoice-first dispatch with digital signatures. State machine prevents tampering after issue.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4663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754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" y="5010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management, GRN against PO, debit notes, and raw material traceability.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4663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4754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7648" y="5010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Machine-wise schedules, checklist tracking, spare part inventory, and overdue alerts.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 &amp; Finance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GST-compliant, audit-ready, real-time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18872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50876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GST-compliant tax invoices with GSTIN validation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notes, debit notes, and receipt vouchers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Chart of Accounts (COA)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&amp; Loss statement — real-time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Sheet — live, no month-end closing needed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advances with auto-adjustment on invoices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debit note adjustments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register with daily voucher printing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tracking with category-wise reports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1234440"/>
            <a:ext cx="5486400" cy="1645920"/>
          </a:xfrm>
          <a:prstGeom prst="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325880"/>
            <a:ext cx="5266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Analytics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19088" y="1581912"/>
            <a:ext cx="526694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KPIs, production efficiency, cash flow, inventory turnover — no Excel needed.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309360" y="3017520"/>
            <a:ext cx="5486400" cy="1645920"/>
          </a:xfrm>
          <a:prstGeom prst="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3108960"/>
            <a:ext cx="5266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Dashboard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19088" y="3364992"/>
            <a:ext cx="526694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customer, product, and period. Overdue receivables at a glance.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09360" y="4800600"/>
            <a:ext cx="5486400" cy="1645920"/>
          </a:xfrm>
          <a:prstGeom prst="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4892040"/>
            <a:ext cx="52669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Reports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19088" y="5148072"/>
            <a:ext cx="526694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GSTR-ready summaries exportable for direct filing.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 Module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employee lifecycle management — NEW in Enterprise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0" y="73152"/>
            <a:ext cx="822960" cy="292608"/>
          </a:xfrm>
          <a:prstGeom prst="rect">
            <a:avLst>
              <a:gd name="adj" fmla="val 15625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0" y="7315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274320" y="1234440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Master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4048" y="1581912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5-tab form: personal, employment, statutory, bank, and family details. Department, designation &amp; shift masters.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234440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76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Management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27648" y="1581912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attendance tracking, monthly calendar view, late/absent reports.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532888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2624328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Management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" y="2880360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types, approval workflows, WhatsApp notifications, EL year-end carry-forward.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17920" y="2532888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7648" y="2624328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 Processing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27648" y="2880360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structures with Basic/HRA/DA components, PF/ESI auto-calc, PT from state slabs.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831336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3922776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TDS &amp; Compliance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4048" y="4178808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TDS projection (Old &amp; New regime), investment declaration (80C/80D/HRA), Form 16 Part A+B.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217920" y="3831336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27648" y="3922776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27648" y="4178808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openings with Kanban pipeline, candidate applications, and stage tracking.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5129784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5221224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&amp; Final Settlement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4048" y="5477256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Auto-calculate pending salary, EL encashment, gratuity, and notice recovery.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17920" y="5129784"/>
            <a:ext cx="5669280" cy="1188720"/>
          </a:xfrm>
          <a:prstGeom prst="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27648" y="5221224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Payslip Delivery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27648" y="5477256"/>
            <a:ext cx="544982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or individual payslip delivery via WhatsApp and Email — one click.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Lead Management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miss a sales opportunity — NEW in Professional plan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0" y="73152"/>
            <a:ext cx="822960" cy="292608"/>
          </a:xfrm>
          <a:prstGeom prst="rect">
            <a:avLst>
              <a:gd name="adj" fmla="val 15625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0" y="7315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Shape 8"/>
          <p:cNvSpPr/>
          <p:nvPr/>
        </p:nvSpPr>
        <p:spPr>
          <a:xfrm>
            <a:off x="22860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9456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219456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7764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6052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416052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94360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90956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809244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875520" y="1389888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0058400" y="1280160"/>
            <a:ext cx="1828800" cy="502920"/>
          </a:xfrm>
          <a:prstGeom prst="rect">
            <a:avLst>
              <a:gd name="adj" fmla="val 10909"/>
            </a:avLst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0" y="1280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28600" y="1170432"/>
            <a:ext cx="1170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6-Stage Lead Pipeline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28600" y="201168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" y="210312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 Board View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8328" y="235915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leads across pipeline stages visually. Instantly see where every deal stands.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160520" y="201168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0248" y="210312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View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270248" y="235915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sort, and export your entire lead list for reporting and analysis.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092440" y="201168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210312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Form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02168" y="235915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company, phone, email, source, product interest, follow-up date, notes.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28600" y="402336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8328" y="41148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Assignment-Based Access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38328" y="437083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leads to sales reps. Reps only see and edit their own leads. Managers see all.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160520" y="402336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70248" y="41148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Tracking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270248" y="437083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next follow-up dates. Never let a lead go cold.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092440" y="4023360"/>
            <a:ext cx="3749040" cy="1874520"/>
          </a:xfrm>
          <a:prstGeom prst="rect">
            <a:avLst>
              <a:gd name="adj" fmla="val 390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02168" y="41148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Stats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202168" y="4370832"/>
            <a:ext cx="35295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count by stage — instant visibility into your sales funnel health.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 (ESS) Portal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 your employees — reduce HR workload — NEW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0" y="73152"/>
            <a:ext cx="822960" cy="292608"/>
          </a:xfrm>
          <a:prstGeom prst="rect">
            <a:avLst>
              <a:gd name="adj" fmla="val 15625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10789920" y="73152"/>
            <a:ext cx="822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234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Employees Can Do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and print payslips for any month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monthly attendance records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leave balances and apply for leave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tax investment declarations (80C / 80D / HRA)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their own profile and employment details</a:t>
            </a:r>
            <a:endParaRPr lang="en-US" sz="1100" dirty="0"/>
          </a:p>
          <a:p>
            <a:pPr>
              <a:spcBef>
                <a:spcPts val="400"/>
              </a:spcBef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leave approval status in real-time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5486400" cy="5394960"/>
          </a:xfrm>
          <a:prstGeom prst="rect">
            <a:avLst>
              <a:gd name="adj" fmla="val 169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0" y="1325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HR Gains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502920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0528" y="184708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payslip queries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510528" y="208483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download their own payslips anytime.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0" y="2880360"/>
            <a:ext cx="502920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294436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leave calls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10528" y="318211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balances visible to employees 24x7.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0" y="3977640"/>
            <a:ext cx="502920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0528" y="404164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tax declarations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10528" y="427939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submit 80C/80D data online — no forms.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0" y="5074920"/>
            <a:ext cx="5029200" cy="987552"/>
          </a:xfrm>
          <a:prstGeom prst="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0528" y="513892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ESS control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10528" y="537667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enables ESS per employee and sets their login password.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5760" y="62179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login portal — employees never access your main ERP.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WhatsApp-First Workflows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factory floor runs on WhatsApp — so does Kinto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34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Startup Checklists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581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receive daily checklists on WhatsApp. Answers captured, AI-interpreted, and logged automatically — no app required.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1234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Approval Notifications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27648" y="1581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employee applies for leave, the approver gets a WhatsApp message instantly. No email delays.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1752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Payslip Delivery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" y="327355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payslips to all employees via WhatsApp in one click. Individually or in bulk — every month.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17920" y="292608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301752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Checklist Alerts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27355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Auto-reminders if an operator hasn't completed their startup checklist by the scheduled time.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461772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70916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Expiry Alerts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" y="496519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WhatsApp alerts before quality certificates, vendor contracts, or compliance documents expire.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461772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470916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Responses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7648" y="496519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Colloki Flow AI interprets operator WhatsApp replies and flags anomalies for supervisors.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Kinto Smart Ops?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for Indian manufacturing — not a global ERP adapted for India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34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GST Built-In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4048" y="1581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GSTIN validation, tax invoices, e-way bills, GSTR-ready reports. Designed for Indian compliance from day one — not an afterthought.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217920" y="123444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27648" y="132588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Native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27648" y="158191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operators already use WhatsApp. Kinto meets them there — checklists, alerts, payslips all via WhatsApp.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92608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" y="301752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" y="327355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73+ screens with granular permissions per role. Admin, Manager, Accountant, Operator — each sees only what they need.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17920" y="292608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301752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SaaS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27648" y="327355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 completely isolated. Every tenant gets their own secure workspace on our cloud platform.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461772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70916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Plan-Gated Modules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4048" y="496519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what you need, scale as you grow. Upgrade plans to unlock HR &amp; Payroll, CRM, and more.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4617720"/>
            <a:ext cx="5669280" cy="1572768"/>
          </a:xfrm>
          <a:prstGeom prst="rect">
            <a:avLst>
              <a:gd name="adj" fmla="val 46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4709160"/>
            <a:ext cx="5449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Onboarding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7648" y="4965192"/>
            <a:ext cx="544982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free trial. No credit card. Most teams are live within a week with guided setup.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Transparent Pricing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plans include a 14-day free trial · No credit card required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1234440"/>
            <a:ext cx="3657600" cy="5212080"/>
          </a:xfrm>
          <a:prstGeom prst="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258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16642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₹999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57400" y="1901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22128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base users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24231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₹100–150 per additional user/month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30352" y="27249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26791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invoicing &amp; receipts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30352" y="310896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3063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management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30352" y="349300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44728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&amp; sales orders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0352" y="3877056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" y="38313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Gatepasses &amp; dispatch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30352" y="426110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4215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 &amp; documents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30352" y="464515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459943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support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206240" y="1234440"/>
            <a:ext cx="3657600" cy="5212080"/>
          </a:xfrm>
          <a:prstGeom prst="rect">
            <a:avLst>
              <a:gd name="adj" fmla="val 2500"/>
            </a:avLst>
          </a:prstGeom>
          <a:solidFill>
            <a:srgbClr val="1E3A5F"/>
          </a:solidFill>
          <a:ln w="38100">
            <a:solidFill>
              <a:srgbClr val="2563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20640" y="1051560"/>
            <a:ext cx="1828800" cy="320040"/>
          </a:xfrm>
          <a:prstGeom prst="rect">
            <a:avLst>
              <a:gd name="adj" fmla="val 17143"/>
            </a:avLst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5120640" y="1051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343400" y="13258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343400" y="16642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₹1,499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5897880" y="1901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343400" y="22128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base users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343400" y="24231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₹100–150 per additional user/month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370832" y="27249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5" name="Text 33"/>
          <p:cNvSpPr/>
          <p:nvPr/>
        </p:nvSpPr>
        <p:spPr>
          <a:xfrm>
            <a:off x="4553712" y="26791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Basic features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70832" y="310896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7" name="Text 35"/>
          <p:cNvSpPr/>
          <p:nvPr/>
        </p:nvSpPr>
        <p:spPr>
          <a:xfrm>
            <a:off x="4553712" y="3063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&amp; BOM tracking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370832" y="349300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39" name="Text 37"/>
          <p:cNvSpPr/>
          <p:nvPr/>
        </p:nvSpPr>
        <p:spPr>
          <a:xfrm>
            <a:off x="4553712" y="344728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Double-entry accounting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370832" y="3877056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1" name="Text 39"/>
          <p:cNvSpPr/>
          <p:nvPr/>
        </p:nvSpPr>
        <p:spPr>
          <a:xfrm>
            <a:off x="4553712" y="38313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analytics dashboards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370832" y="426110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3" name="Text 41"/>
          <p:cNvSpPr/>
          <p:nvPr/>
        </p:nvSpPr>
        <p:spPr>
          <a:xfrm>
            <a:off x="4553712" y="4215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lead management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370832" y="464515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5" name="Text 43"/>
          <p:cNvSpPr/>
          <p:nvPr/>
        </p:nvSpPr>
        <p:spPr>
          <a:xfrm>
            <a:off x="4553712" y="459943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checklists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70832" y="502920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7" name="Text 45"/>
          <p:cNvSpPr/>
          <p:nvPr/>
        </p:nvSpPr>
        <p:spPr>
          <a:xfrm>
            <a:off x="4553712" y="4983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70832" y="541324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49" name="Text 47"/>
          <p:cNvSpPr/>
          <p:nvPr/>
        </p:nvSpPr>
        <p:spPr>
          <a:xfrm>
            <a:off x="4553712" y="536752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support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046720" y="1234440"/>
            <a:ext cx="3657600" cy="5212080"/>
          </a:xfrm>
          <a:prstGeom prst="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183880" y="132588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8183880" y="16642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₹2,599</a:t>
            </a:r>
            <a:endParaRPr lang="en-US" sz="2800" dirty="0"/>
          </a:p>
        </p:txBody>
      </p:sp>
      <p:sp>
        <p:nvSpPr>
          <p:cNvPr id="53" name="Text 51"/>
          <p:cNvSpPr/>
          <p:nvPr/>
        </p:nvSpPr>
        <p:spPr>
          <a:xfrm>
            <a:off x="9738360" y="19019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/month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83880" y="2212848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base users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8183880" y="242316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₹100–150 per additional user/month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211312" y="272491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7" name="Text 55"/>
          <p:cNvSpPr/>
          <p:nvPr/>
        </p:nvSpPr>
        <p:spPr>
          <a:xfrm>
            <a:off x="8394192" y="267919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Professional features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8211312" y="310896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9" name="Text 57"/>
          <p:cNvSpPr/>
          <p:nvPr/>
        </p:nvSpPr>
        <p:spPr>
          <a:xfrm>
            <a:off x="8394192" y="30632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 module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8211312" y="349300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1" name="Text 59"/>
          <p:cNvSpPr/>
          <p:nvPr/>
        </p:nvSpPr>
        <p:spPr>
          <a:xfrm>
            <a:off x="8394192" y="3447288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 portal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8211312" y="3877056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3" name="Text 61"/>
          <p:cNvSpPr/>
          <p:nvPr/>
        </p:nvSpPr>
        <p:spPr>
          <a:xfrm>
            <a:off x="8394192" y="3831336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TDS &amp; compliance (Form 16)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8211312" y="426110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5" name="Text 63"/>
          <p:cNvSpPr/>
          <p:nvPr/>
        </p:nvSpPr>
        <p:spPr>
          <a:xfrm>
            <a:off x="8394192" y="4215384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Recruitment management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8211312" y="464515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7" name="Text 65"/>
          <p:cNvSpPr/>
          <p:nvPr/>
        </p:nvSpPr>
        <p:spPr>
          <a:xfrm>
            <a:off x="8394192" y="4599432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branding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8211312" y="5029200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9" name="Text 67"/>
          <p:cNvSpPr/>
          <p:nvPr/>
        </p:nvSpPr>
        <p:spPr>
          <a:xfrm>
            <a:off x="8394192" y="49834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support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365760" y="6492240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a custom plan for large enterprises? Contact us: hello@kintoops.in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by Indian Manufacturers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feedback from real customers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1280160"/>
            <a:ext cx="3749040" cy="5029200"/>
          </a:xfrm>
          <a:prstGeom prst="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★ ★ ★ 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" y="17830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"Kinto Smart Ops transformed how we track production. Real-time inventory and GST invoicing in one place — we cut our month-end closing time from 3 days to 4 hours."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5120640"/>
            <a:ext cx="347472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51937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Rajesh Sharma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5449824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Precision Parts Mfg.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160520" y="1280160"/>
            <a:ext cx="3749040" cy="5029200"/>
          </a:xfrm>
          <a:prstGeom prst="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★ ★ ★ ★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HR &amp; Payroll module with automated TDS calculations and payslip delivery via WhatsApp saved us days every month. Employees no longer call us for payslip queries."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297680" y="5120640"/>
            <a:ext cx="347472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4297680" y="51937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Meera Patel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97680" y="5449824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CFO, Alpha Industries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092440" y="1280160"/>
            <a:ext cx="3749040" cy="5029200"/>
          </a:xfrm>
          <a:prstGeom prst="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★ ★ ★ ★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0" y="17830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"From purchase orders to dispatch gatepasses, everything flows seamlessly. The CRM pipeline helped us recover 3 deals we had forgotten about. Our team adopted it within a week."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229600" y="5120640"/>
            <a:ext cx="3474720" cy="2743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0" y="519379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Suresh Kumar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0" y="5449824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Head, Bharat Engineering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12192000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102352"/>
            <a:ext cx="12192000" cy="1755648"/>
          </a:xfrm>
          <a:prstGeom prst="rect">
            <a:avLst/>
          </a:prstGeom>
          <a:solidFill>
            <a:srgbClr val="162D4B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Modernise Your Factory?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hundreds of Indian manufacturers already using Kinto Smart Ops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manage their operations end-to-end.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560320"/>
            <a:ext cx="3474720" cy="2194560"/>
          </a:xfrm>
          <a:prstGeom prst="rect">
            <a:avLst>
              <a:gd name="adj" fmla="val 4167"/>
            </a:avLst>
          </a:prstGeom>
          <a:solidFill>
            <a:srgbClr val="2563EB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43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14-Day Free Trial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credit card required.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 at kintoops.in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26280" y="2560320"/>
            <a:ext cx="3474720" cy="2194560"/>
          </a:xfrm>
          <a:prstGeom prst="rect">
            <a:avLst>
              <a:gd name="adj" fmla="val 4167"/>
            </a:avLst>
          </a:prstGeom>
          <a:solidFill>
            <a:srgbClr val="162D4B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743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Demo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324612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 live walkthrough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tailored to your factory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321040" y="2560320"/>
            <a:ext cx="3474720" cy="2194560"/>
          </a:xfrm>
          <a:prstGeom prst="rect">
            <a:avLst>
              <a:gd name="adj" fmla="val 4167"/>
            </a:avLst>
          </a:prstGeom>
          <a:solidFill>
            <a:srgbClr val="162D4B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2743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Sales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21040" y="324612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hello@kintoops.in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XXXXX XXXXX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5166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www.kintoops.in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57784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· Made in India · hello@kintoops.in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Compare to the Competition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Purpose-built for Indian manufacturing — not adapted from a global product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37160" y="1188720"/>
            <a:ext cx="25603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182880" y="11887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97480" y="1188720"/>
            <a:ext cx="1828800" cy="36576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1887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Kinto Smart Ops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188720"/>
            <a:ext cx="16459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188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Tally / Busy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72200" y="1188720"/>
            <a:ext cx="16459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188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Zoho Books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1188720"/>
            <a:ext cx="201168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0" y="118872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B1 / MS Dynamics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829800" y="1188720"/>
            <a:ext cx="1645920" cy="36576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0" y="1188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ERPNext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37160" y="1554480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" y="1554480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GST Built-In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697480" y="1554480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1554480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26280" y="155448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0" y="15544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172200" y="155448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15544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818120" y="1554480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0" y="155448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Add-on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829800" y="155448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0" y="155448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137160" y="1993392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993392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/ BOM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697480" y="1993392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1993392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526280" y="1993392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0" y="19933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172200" y="1993392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19933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818120" y="1993392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63840" y="199339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829800" y="1993392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75520" y="199339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137160" y="2432304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2880" y="2432304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Integration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697480" y="2432304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743200" y="2432304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Native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526280" y="2432304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0" y="24323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172200" y="2432304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17920" y="24323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818120" y="2432304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863840" y="2432304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29800" y="2432304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875520" y="243230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137160" y="2871216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82880" y="2871216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&amp; Payroll Built-In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697480" y="2871216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0" y="2871216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526280" y="2871216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0" y="28712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6172200" y="2871216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17920" y="28712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7818120" y="2871216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63840" y="287121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Add-on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9829800" y="2871216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875520" y="287121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37160" y="3310128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82880" y="3310128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Lead Management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2697480" y="3310128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743200" y="3310128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4526280" y="3310128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572000" y="33101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172200" y="3310128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17920" y="33101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Separate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818120" y="3310128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863840" y="331012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Add-on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9829800" y="3310128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75520" y="331012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137160" y="3749040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82880" y="3749040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 Portal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2697480" y="3749040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743200" y="3749040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526280" y="3749040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572000" y="374904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72200" y="3749040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17920" y="374904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88" name="Shape 86"/>
          <p:cNvSpPr/>
          <p:nvPr/>
        </p:nvSpPr>
        <p:spPr>
          <a:xfrm>
            <a:off x="7818120" y="3749040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863840" y="374904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Add-on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9829800" y="3749040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875520" y="374904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Basic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137160" y="4187952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82880" y="4187952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 Maintenance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2697480" y="4187952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743200" y="4187952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4526280" y="4187952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572000" y="418795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6172200" y="4187952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17920" y="418795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None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818120" y="4187952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7863840" y="4187952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Add-on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9829800" y="4187952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875520" y="4187952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Full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137160" y="4626864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82880" y="4626864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(SaaS)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2697480" y="4626864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743200" y="4626864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4526280" y="4626864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572000" y="462686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Hybrid</a:t>
            </a:r>
            <a:endParaRPr lang="en-US" sz="850" dirty="0"/>
          </a:p>
        </p:txBody>
      </p:sp>
      <p:sp>
        <p:nvSpPr>
          <p:cNvPr id="110" name="Shape 108"/>
          <p:cNvSpPr/>
          <p:nvPr/>
        </p:nvSpPr>
        <p:spPr>
          <a:xfrm>
            <a:off x="6172200" y="4626864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17920" y="462686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</a:t>
            </a:r>
            <a:endParaRPr lang="en-US" sz="850" dirty="0"/>
          </a:p>
        </p:txBody>
      </p:sp>
      <p:sp>
        <p:nvSpPr>
          <p:cNvPr id="112" name="Shape 110"/>
          <p:cNvSpPr/>
          <p:nvPr/>
        </p:nvSpPr>
        <p:spPr>
          <a:xfrm>
            <a:off x="7818120" y="4626864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7863840" y="4626864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9829800" y="4626864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875520" y="4626864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Yes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137160" y="5065776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82880" y="5065776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Time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2697480" y="5065776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743200" y="5065776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week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4526280" y="5065776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572000" y="506577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weeks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6172200" y="5065776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17920" y="506577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days</a:t>
            </a:r>
            <a:endParaRPr lang="en-US" sz="850" dirty="0"/>
          </a:p>
        </p:txBody>
      </p:sp>
      <p:sp>
        <p:nvSpPr>
          <p:cNvPr id="124" name="Shape 122"/>
          <p:cNvSpPr/>
          <p:nvPr/>
        </p:nvSpPr>
        <p:spPr>
          <a:xfrm>
            <a:off x="7818120" y="5065776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863840" y="5065776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9829800" y="5065776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875520" y="5065776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weeks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137160" y="5504688"/>
            <a:ext cx="25603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82880" y="5504688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Price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2697480" y="5504688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2743200" y="5504688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₹999/mo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4526280" y="5504688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572000" y="550468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₹18k/yr</a:t>
            </a:r>
            <a:endParaRPr lang="en-US" sz="850" dirty="0"/>
          </a:p>
        </p:txBody>
      </p:sp>
      <p:sp>
        <p:nvSpPr>
          <p:cNvPr id="134" name="Shape 132"/>
          <p:cNvSpPr/>
          <p:nvPr/>
        </p:nvSpPr>
        <p:spPr>
          <a:xfrm>
            <a:off x="6172200" y="5504688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217920" y="550468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₹999/mo</a:t>
            </a:r>
            <a:endParaRPr lang="en-US" sz="850" dirty="0"/>
          </a:p>
        </p:txBody>
      </p:sp>
      <p:sp>
        <p:nvSpPr>
          <p:cNvPr id="136" name="Shape 134"/>
          <p:cNvSpPr/>
          <p:nvPr/>
        </p:nvSpPr>
        <p:spPr>
          <a:xfrm>
            <a:off x="7818120" y="5504688"/>
            <a:ext cx="20116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863840" y="550468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₹2L+/yr</a:t>
            </a:r>
            <a:endParaRPr lang="en-US" sz="850" dirty="0"/>
          </a:p>
        </p:txBody>
      </p:sp>
      <p:sp>
        <p:nvSpPr>
          <p:cNvPr id="138" name="Shape 136"/>
          <p:cNvSpPr/>
          <p:nvPr/>
        </p:nvSpPr>
        <p:spPr>
          <a:xfrm>
            <a:off x="9829800" y="5504688"/>
            <a:ext cx="164592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9875520" y="5504688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Free*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137160" y="5943600"/>
            <a:ext cx="25603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82880" y="5943600"/>
            <a:ext cx="2468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2697480" y="5943600"/>
            <a:ext cx="1828800" cy="420624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2743200" y="5943600"/>
            <a:ext cx="1737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850" dirty="0"/>
          </a:p>
        </p:txBody>
      </p:sp>
      <p:sp>
        <p:nvSpPr>
          <p:cNvPr id="144" name="Shape 142"/>
          <p:cNvSpPr/>
          <p:nvPr/>
        </p:nvSpPr>
        <p:spPr>
          <a:xfrm>
            <a:off x="4526280" y="594360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4572000" y="594360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6172200" y="594360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6217920" y="594360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850" dirty="0"/>
          </a:p>
        </p:txBody>
      </p:sp>
      <p:sp>
        <p:nvSpPr>
          <p:cNvPr id="148" name="Shape 146"/>
          <p:cNvSpPr/>
          <p:nvPr/>
        </p:nvSpPr>
        <p:spPr>
          <a:xfrm>
            <a:off x="7818120" y="5943600"/>
            <a:ext cx="201168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7863840" y="5943600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850" dirty="0"/>
          </a:p>
        </p:txBody>
      </p:sp>
      <p:sp>
        <p:nvSpPr>
          <p:cNvPr id="150" name="Shape 148"/>
          <p:cNvSpPr/>
          <p:nvPr/>
        </p:nvSpPr>
        <p:spPr>
          <a:xfrm>
            <a:off x="9829800" y="5943600"/>
            <a:ext cx="1645920" cy="420624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9875520" y="5943600"/>
            <a:ext cx="1554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</a:t>
            </a:r>
            <a:endParaRPr lang="en-US" sz="850" dirty="0"/>
          </a:p>
        </p:txBody>
      </p:sp>
      <p:sp>
        <p:nvSpPr>
          <p:cNvPr id="152" name="Shape 150"/>
          <p:cNvSpPr/>
          <p:nvPr/>
        </p:nvSpPr>
        <p:spPr>
          <a:xfrm>
            <a:off x="2697480" y="1188720"/>
            <a:ext cx="18288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3" name="Shape 151"/>
          <p:cNvSpPr/>
          <p:nvPr/>
        </p:nvSpPr>
        <p:spPr>
          <a:xfrm>
            <a:off x="2697480" y="6327648"/>
            <a:ext cx="18288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4" name="Text 152"/>
          <p:cNvSpPr/>
          <p:nvPr/>
        </p:nvSpPr>
        <p:spPr>
          <a:xfrm>
            <a:off x="137160" y="6473952"/>
            <a:ext cx="11430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ERPNext is open-source but requires significant IT setup cost and expertise.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Customers Choose Kinto Smart Ops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unfair advantages — things no competitor does as well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123444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" y="134416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" y="1344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134416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ERP with Native WhatsApp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8328" y="17830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other Indian ERP has WhatsApp baked in. Operators submit checklists, receive payslips, and get alerts — all on WhatsApp. Zero app downloads required.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17920" y="123444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27648" y="134416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6327648" y="13441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12280" y="134416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+ HR + CRM in One Price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27648" y="17830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charge separately for manufacturing, HR, and CRM modules — or require different products. Kinto gives all three in one subscription.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28600" y="301752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328" y="312724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338328" y="31272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312724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Indian Manufacturing from Day One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8328" y="35661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GST, PT state slabs, TDS old/new regime, PF/ESI — all built-in. Not an afterthought or a plugin. Designed specifically for how Indian factories operate.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17920" y="301752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312724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25" name="Text 23"/>
          <p:cNvSpPr/>
          <p:nvPr/>
        </p:nvSpPr>
        <p:spPr>
          <a:xfrm>
            <a:off x="6327648" y="31272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12280" y="312724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Self-Service No One Else Offers at This Price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27648" y="356616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 portals cost lakhs with SAP or Oracle. Kinto includes a full ESS portal — payslips, leave, tax declarations — in the Enterprise plan at ₹2,599/month.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28600" y="480060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" y="491032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" y="49103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" y="491032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Time-to-Value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38328" y="534924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teams are live within a week. No 6-month implementation projects, no consultants, no server setup. Start free trial today — go live next Monday.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17920" y="4800600"/>
            <a:ext cx="5760720" cy="1664208"/>
          </a:xfrm>
          <a:prstGeom prst="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27648" y="4910328"/>
            <a:ext cx="402336" cy="402336"/>
          </a:xfrm>
          <a:prstGeom prst="rect">
            <a:avLst>
              <a:gd name="adj" fmla="val 13636"/>
            </a:avLst>
          </a:prstGeom>
          <a:solidFill>
            <a:srgbClr val="2563EB"/>
          </a:solidFill>
          <a:ln/>
        </p:spPr>
      </p:sp>
      <p:sp>
        <p:nvSpPr>
          <p:cNvPr id="35" name="Text 33"/>
          <p:cNvSpPr/>
          <p:nvPr/>
        </p:nvSpPr>
        <p:spPr>
          <a:xfrm>
            <a:off x="6327648" y="491032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12280" y="491032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Pricing, No Hidden Costs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327648" y="534924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flat monthly price + ₹100–150 per extra user. No modules sold separately. No yearly lock-in forced on you. Cancel anytime.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ROI Is Clear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saved. Errors eliminated. Revenue protected.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74320" y="1234440"/>
            <a:ext cx="2743200" cy="1920240"/>
          </a:xfrm>
          <a:prstGeom prst="rect">
            <a:avLst>
              <a:gd name="adj" fmla="val 4762"/>
            </a:avLst>
          </a:prstGeom>
          <a:solidFill>
            <a:srgbClr val="1E3A5F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74320" y="2029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hrs/month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" y="23042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on payroll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admin work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82112" y="1234440"/>
            <a:ext cx="2743200" cy="1920240"/>
          </a:xfrm>
          <a:prstGeom prst="rect">
            <a:avLst>
              <a:gd name="adj" fmla="val 4762"/>
            </a:avLst>
          </a:prstGeom>
          <a:solidFill>
            <a:srgbClr val="1E3A5F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182112" y="2029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82112" y="23042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GST invoice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&amp; rework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89904" y="1234440"/>
            <a:ext cx="2743200" cy="1920240"/>
          </a:xfrm>
          <a:prstGeom prst="rect">
            <a:avLst>
              <a:gd name="adj" fmla="val 4762"/>
            </a:avLst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6089904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089904" y="2029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89904" y="23042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closing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manual Excel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997696" y="1234440"/>
            <a:ext cx="2743200" cy="1920240"/>
          </a:xfrm>
          <a:prstGeom prst="rect">
            <a:avLst>
              <a:gd name="adj" fmla="val 4762"/>
            </a:avLst>
          </a:prstGeom>
          <a:solidFill>
            <a:srgbClr val="1E3A5F"/>
          </a:solidFill>
          <a:ln/>
        </p:spPr>
      </p:sp>
      <p:sp>
        <p:nvSpPr>
          <p:cNvPr id="21" name="Text 19"/>
          <p:cNvSpPr/>
          <p:nvPr/>
        </p:nvSpPr>
        <p:spPr>
          <a:xfrm>
            <a:off x="8997696" y="1371600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997696" y="20299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cost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997696" y="23042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WhatsApp, HR,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DD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vs competitors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74320" y="33375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Kinto  vs  After Kinto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74320" y="3749040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3749040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Payroll calculated on Excel — errors, corrections, delays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623560" y="37490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943600" y="3749040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53328" y="3749040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Auto-calculated payroll with PF/ESI/TDS — one-click payslips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279392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" y="4279392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GST invoices made manually — wrong tax codes, filing stress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623560" y="4279392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943600" y="4279392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53328" y="4279392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GST-validated invoices auto-generated from sales orders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74320" y="4809744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84048" y="4809744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Sales leads tracked on WhatsApp chats — deals forgotten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23560" y="4809744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943600" y="4809744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053328" y="4809744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CRM pipeline with follow-up dates — zero leads slip through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274320" y="5340096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" y="5340096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Employees call HR for payslips, leave balance, Form 16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623560" y="5340096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943600" y="5340096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53328" y="5340096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Employees access everything self-serve — HR freed up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5870448"/>
            <a:ext cx="5303520" cy="457200"/>
          </a:xfrm>
          <a:prstGeom prst="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84048" y="5870448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 Machine checklists on paper — no digital record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623560" y="5870448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943600" y="5870448"/>
            <a:ext cx="5577840" cy="457200"/>
          </a:xfrm>
          <a:prstGeom prst="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53328" y="5870448"/>
            <a:ext cx="5376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WhatsApp checklists — auto-logged, AI-interpreted, auditable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Is Safe With Us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security — at an SME price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600" y="123444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" y="132588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Data Isolation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58191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company gets its own isolated database space. Your data is never mixed with any other tenant. Even our engineers cannot accidentally access your records.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60520" y="123444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70248" y="132588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Automated Backups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270248" y="158191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backups run every night. Last 30 backups retained. Pre-deletion backups triggered before any major change. Restore any data from any point in time.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92440" y="123444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32588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02168" y="158191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73+ screens with granular permissions. Each user sees only what their role allows. Full audit log of every action taken — who changed what and when.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356616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" y="3657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Authentication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38328" y="391363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hashed with industry-standard scrypt. Session management with 7-day expiry. Secure cookies with SameSite and Secure flags enforced.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160520" y="356616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70248" y="3657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70248" y="391363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enterprise-grade cloud infrastructure with 99.9% uptime SLA. No server to manage, no IT team needed, always on the latest version.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92440" y="3566160"/>
            <a:ext cx="3749040" cy="2176272"/>
          </a:xfrm>
          <a:prstGeom prst="rect">
            <a:avLst>
              <a:gd name="adj" fmla="val 33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02168" y="3657600"/>
            <a:ext cx="35295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02168" y="3913632"/>
            <a:ext cx="3529584" cy="1719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login, data change, and permission update is logged with user identity, timestamp, and IP. Full compliance trail for internal and external audits.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Is Simple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teams are fully live within one week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6629400"/>
            <a:ext cx="10972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Kinto Smart Ops  |  Built for Indian Manufacturers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0" y="1097280"/>
            <a:ext cx="12192000" cy="5577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463040" y="2231136"/>
            <a:ext cx="9326880" cy="5486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192024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1261872"/>
            <a:ext cx="1280160" cy="274320"/>
          </a:xfrm>
          <a:prstGeom prst="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261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8600" y="2697480"/>
            <a:ext cx="2834640" cy="3749040"/>
          </a:xfrm>
          <a:prstGeom prst="rect">
            <a:avLst>
              <a:gd name="adj" fmla="val 2581"/>
            </a:avLst>
          </a:prstGeom>
          <a:solidFill>
            <a:srgbClr val="F8FAFC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2788920"/>
            <a:ext cx="2615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 &amp; Company Setup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310128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" y="3246120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your company (2 minutes)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" y="3968496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539496" y="3904488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GSTIN, address, logo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4626864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0" name="Text 18"/>
          <p:cNvSpPr/>
          <p:nvPr/>
        </p:nvSpPr>
        <p:spPr>
          <a:xfrm>
            <a:off x="539496" y="4562856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your team members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65760" y="5285232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" y="5221224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roles and permissions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977640" y="1920240"/>
            <a:ext cx="640080" cy="64008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39776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657600" y="1261872"/>
            <a:ext cx="1280160" cy="274320"/>
          </a:xfrm>
          <a:prstGeom prst="rect">
            <a:avLst>
              <a:gd name="adj" fmla="val 20000"/>
            </a:avLst>
          </a:prstGeom>
          <a:solidFill>
            <a:srgbClr val="1E3A5F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0" y="1261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2–3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00400" y="2697480"/>
            <a:ext cx="2834640" cy="3749040"/>
          </a:xfrm>
          <a:prstGeom prst="rect">
            <a:avLst>
              <a:gd name="adj" fmla="val 2581"/>
            </a:avLst>
          </a:prstGeom>
          <a:solidFill>
            <a:srgbClr val="F8FAFC"/>
          </a:solidFill>
          <a:ln w="25400">
            <a:solidFill>
              <a:srgbClr val="1E3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10128" y="2788920"/>
            <a:ext cx="2615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Data &amp; Configuration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37560" y="3310128"/>
            <a:ext cx="128016" cy="128016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0" name="Text 28"/>
          <p:cNvSpPr/>
          <p:nvPr/>
        </p:nvSpPr>
        <p:spPr>
          <a:xfrm>
            <a:off x="3511296" y="3246120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products, raw materials, vendors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337560" y="3968496"/>
            <a:ext cx="128016" cy="128016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2" name="Text 30"/>
          <p:cNvSpPr/>
          <p:nvPr/>
        </p:nvSpPr>
        <p:spPr>
          <a:xfrm>
            <a:off x="3511296" y="3904488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salary structures for payroll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337560" y="4626864"/>
            <a:ext cx="128016" cy="128016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4" name="Text 32"/>
          <p:cNvSpPr/>
          <p:nvPr/>
        </p:nvSpPr>
        <p:spPr>
          <a:xfrm>
            <a:off x="3511296" y="4562856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Chart of Accounts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337560" y="5285232"/>
            <a:ext cx="128016" cy="128016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6" name="Text 34"/>
          <p:cNvSpPr/>
          <p:nvPr/>
        </p:nvSpPr>
        <p:spPr>
          <a:xfrm>
            <a:off x="3511296" y="5221224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existing data if needed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949440" y="1920240"/>
            <a:ext cx="640080" cy="640080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38" name="Text 36"/>
          <p:cNvSpPr/>
          <p:nvPr/>
        </p:nvSpPr>
        <p:spPr>
          <a:xfrm>
            <a:off x="69494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629400" y="1261872"/>
            <a:ext cx="1280160" cy="274320"/>
          </a:xfrm>
          <a:prstGeom prst="rect">
            <a:avLst>
              <a:gd name="adj" fmla="val 20000"/>
            </a:avLst>
          </a:prstGeom>
          <a:solidFill>
            <a:srgbClr val="0369A1"/>
          </a:solidFill>
          <a:ln/>
        </p:spPr>
      </p:sp>
      <p:sp>
        <p:nvSpPr>
          <p:cNvPr id="40" name="Text 38"/>
          <p:cNvSpPr/>
          <p:nvPr/>
        </p:nvSpPr>
        <p:spPr>
          <a:xfrm>
            <a:off x="6629400" y="1261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4–5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172200" y="2697480"/>
            <a:ext cx="2834640" cy="3749040"/>
          </a:xfrm>
          <a:prstGeom prst="rect">
            <a:avLst>
              <a:gd name="adj" fmla="val 2581"/>
            </a:avLst>
          </a:prstGeom>
          <a:solidFill>
            <a:srgbClr val="F8FAFC"/>
          </a:solidFill>
          <a:ln w="25400">
            <a:solidFill>
              <a:srgbClr val="0369A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81928" y="2788920"/>
            <a:ext cx="2615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 on Core Operations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09360" y="3310128"/>
            <a:ext cx="128016" cy="128016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44" name="Text 42"/>
          <p:cNvSpPr/>
          <p:nvPr/>
        </p:nvSpPr>
        <p:spPr>
          <a:xfrm>
            <a:off x="6483096" y="3246120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raising GST invoices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309360" y="3968496"/>
            <a:ext cx="128016" cy="128016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46" name="Text 44"/>
          <p:cNvSpPr/>
          <p:nvPr/>
        </p:nvSpPr>
        <p:spPr>
          <a:xfrm>
            <a:off x="6483096" y="3904488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purchase orders &amp; GRNs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309360" y="4626864"/>
            <a:ext cx="128016" cy="128016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48" name="Text 46"/>
          <p:cNvSpPr/>
          <p:nvPr/>
        </p:nvSpPr>
        <p:spPr>
          <a:xfrm>
            <a:off x="6483096" y="4562856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production entries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309360" y="5285232"/>
            <a:ext cx="128016" cy="128016"/>
          </a:xfrm>
          <a:prstGeom prst="ellipse">
            <a:avLst/>
          </a:prstGeom>
          <a:solidFill>
            <a:srgbClr val="0369A1"/>
          </a:solidFill>
          <a:ln/>
        </p:spPr>
      </p:sp>
      <p:sp>
        <p:nvSpPr>
          <p:cNvPr id="50" name="Text 48"/>
          <p:cNvSpPr/>
          <p:nvPr/>
        </p:nvSpPr>
        <p:spPr>
          <a:xfrm>
            <a:off x="6483096" y="5221224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WhatsApp checklists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921240" y="1920240"/>
            <a:ext cx="640080" cy="64008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2" name="Text 50"/>
          <p:cNvSpPr/>
          <p:nvPr/>
        </p:nvSpPr>
        <p:spPr>
          <a:xfrm>
            <a:off x="99212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9601200" y="1261872"/>
            <a:ext cx="1280160" cy="274320"/>
          </a:xfrm>
          <a:prstGeom prst="rect">
            <a:avLst>
              <a:gd name="adj" fmla="val 20000"/>
            </a:avLst>
          </a:prstGeom>
          <a:solidFill>
            <a:srgbClr val="16A34A"/>
          </a:solidFill>
          <a:ln/>
        </p:spPr>
      </p:sp>
      <p:sp>
        <p:nvSpPr>
          <p:cNvPr id="54" name="Text 52"/>
          <p:cNvSpPr/>
          <p:nvPr/>
        </p:nvSpPr>
        <p:spPr>
          <a:xfrm>
            <a:off x="9601200" y="1261872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144000" y="2697480"/>
            <a:ext cx="2834640" cy="3749040"/>
          </a:xfrm>
          <a:prstGeom prst="rect">
            <a:avLst>
              <a:gd name="adj" fmla="val 2581"/>
            </a:avLst>
          </a:prstGeom>
          <a:solidFill>
            <a:srgbClr val="F8FAFC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253728" y="2788920"/>
            <a:ext cx="261518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HR, CRM &amp; Advanced Modules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9281160" y="3310128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58" name="Text 56"/>
          <p:cNvSpPr/>
          <p:nvPr/>
        </p:nvSpPr>
        <p:spPr>
          <a:xfrm>
            <a:off x="9454896" y="3246120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employees &amp; run first payroll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9281160" y="3968496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0" name="Text 58"/>
          <p:cNvSpPr/>
          <p:nvPr/>
        </p:nvSpPr>
        <p:spPr>
          <a:xfrm>
            <a:off x="9454896" y="3904488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sales leads to CRM pipeline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281160" y="4626864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2" name="Text 60"/>
          <p:cNvSpPr/>
          <p:nvPr/>
        </p:nvSpPr>
        <p:spPr>
          <a:xfrm>
            <a:off x="9454896" y="4562856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ESS for employees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9281160" y="5285232"/>
            <a:ext cx="128016" cy="128016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64" name="Text 62"/>
          <p:cNvSpPr/>
          <p:nvPr/>
        </p:nvSpPr>
        <p:spPr>
          <a:xfrm>
            <a:off x="9454896" y="5221224"/>
            <a:ext cx="239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first MIS dashboard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274320" y="6492240"/>
            <a:ext cx="11430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help? Our onboarding team is available via chat and email throughout your setup.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2026-04-09T16:05:27Z</dcterms:created>
  <dcterms:modified xsi:type="dcterms:W3CDTF">2026-04-09T16:05:27Z</dcterms:modified>
</cp:coreProperties>
</file>