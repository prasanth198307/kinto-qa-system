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303520"/>
            <a:ext cx="1219200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376672"/>
            <a:ext cx="12192000" cy="1481328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0"/>
            <a:ext cx="4416552" cy="5303520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0" y="0"/>
            <a:ext cx="54864" cy="5303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05840"/>
            <a:ext cx="25603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Indian Manufacturing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7040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7040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ERP Platform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Indian Manufacturers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· HR &amp; Payroll · GST Invoicing · CRM · Accounting · WhatsApp · MIS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822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46720" y="12984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Modules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0" y="190195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46720" y="2377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298094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046720" y="34564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4059936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46720" y="453542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Sales Presentation  | 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www.kintoops.in  | 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 Indian Manufacturers Face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tracked on Excel, inventory on paper, accounts in Tally — no single source of truth.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0624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1596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Visibility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596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get weekly/monthly reports. By the time they act, the problem has grown.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Compliance Burden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4788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invoice creation, error-prone GST calculations, last-minute filing stress every month.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Done Manually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in registers, payroll on Excel, payslips printed by hand — error-prone and time-consuming.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0624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CRM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1596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leads tracked on WhatsApp or notebooks. Follow-ups missed. Deals lost without knowing why.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13816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4788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ESS for Employees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4788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call HR for payslips, leave balances, tax info. HR spends hours on routine queries.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Everything Connected.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 replaces every tool your factory uses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2377440"/>
            <a:ext cx="2651760" cy="26517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834640"/>
            <a:ext cx="2651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Ops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" y="1371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2880" y="27432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182880" y="27432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Accounting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" y="41148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" y="41148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3716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0" y="1371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ESS Portal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0" y="27432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27432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Pipeline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0" y="41148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0" y="41148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6 different tools with one integrated cloud ERP — no more data silos.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Integrated Modules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unlocked at Enterprise — ₹2,599/month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0" y="1170432"/>
            <a:ext cx="1554480" cy="237744"/>
          </a:xfrm>
          <a:prstGeom prst="rect">
            <a:avLst>
              <a:gd name="adj" fmla="val 15385"/>
            </a:avLst>
          </a:prstGeom>
          <a:solidFill>
            <a:srgbClr val="F1F5F9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170432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8549640" y="1170432"/>
            <a:ext cx="1554480" cy="237744"/>
          </a:xfrm>
          <a:prstGeom prst="rect">
            <a:avLst>
              <a:gd name="adj" fmla="val 15385"/>
            </a:avLst>
          </a:prstGeom>
          <a:solidFill>
            <a:srgbClr val="DBEAFE"/>
          </a:solidFill>
          <a:ln/>
        </p:spPr>
      </p:sp>
      <p:sp>
        <p:nvSpPr>
          <p:cNvPr id="11" name="Text 9"/>
          <p:cNvSpPr/>
          <p:nvPr/>
        </p:nvSpPr>
        <p:spPr>
          <a:xfrm>
            <a:off x="8549640" y="1170432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0241280" y="1170432"/>
            <a:ext cx="1554480" cy="237744"/>
          </a:xfrm>
          <a:prstGeom prst="rect">
            <a:avLst>
              <a:gd name="adj" fmla="val 15385"/>
            </a:avLst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0" y="1170432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309360" y="1170432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28600" y="1481328"/>
            <a:ext cx="2194560" cy="1536192"/>
          </a:xfrm>
          <a:prstGeom prst="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752" y="1591056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1752" y="2596896"/>
            <a:ext cx="2048256" cy="256032"/>
          </a:xfrm>
          <a:prstGeom prst="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301752" y="2596896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578608" y="1481328"/>
            <a:ext cx="2194560" cy="1536192"/>
          </a:xfrm>
          <a:prstGeom prst="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51760" y="1591056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Control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651760" y="2596896"/>
            <a:ext cx="2048256" cy="256032"/>
          </a:xfrm>
          <a:prstGeom prst="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22" name="Text 20"/>
          <p:cNvSpPr/>
          <p:nvPr/>
        </p:nvSpPr>
        <p:spPr>
          <a:xfrm>
            <a:off x="2651760" y="2596896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28616" y="1481328"/>
            <a:ext cx="2194560" cy="1536192"/>
          </a:xfrm>
          <a:prstGeom prst="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01768" y="1591056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01768" y="2596896"/>
            <a:ext cx="2048256" cy="256032"/>
          </a:xfrm>
          <a:prstGeom prst="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26" name="Text 24"/>
          <p:cNvSpPr/>
          <p:nvPr/>
        </p:nvSpPr>
        <p:spPr>
          <a:xfrm>
            <a:off x="5001768" y="2596896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278624" y="1481328"/>
            <a:ext cx="2194560" cy="1536192"/>
          </a:xfrm>
          <a:prstGeom prst="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51776" y="1591056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&amp; Gatepasses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51776" y="2596896"/>
            <a:ext cx="2048256" cy="256032"/>
          </a:xfrm>
          <a:prstGeom prst="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30" name="Text 28"/>
          <p:cNvSpPr/>
          <p:nvPr/>
        </p:nvSpPr>
        <p:spPr>
          <a:xfrm>
            <a:off x="7351776" y="2596896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628632" y="1481328"/>
            <a:ext cx="2194560" cy="1536192"/>
          </a:xfrm>
          <a:prstGeom prst="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701784" y="1591056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&amp; Cash Register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701784" y="2596896"/>
            <a:ext cx="2048256" cy="256032"/>
          </a:xfrm>
          <a:prstGeom prst="rect">
            <a:avLst>
              <a:gd name="adj" fmla="val 14286"/>
            </a:avLst>
          </a:prstGeom>
          <a:solidFill>
            <a:srgbClr val="F1F5F9"/>
          </a:solidFill>
          <a:ln/>
        </p:spPr>
      </p:sp>
      <p:sp>
        <p:nvSpPr>
          <p:cNvPr id="34" name="Text 32"/>
          <p:cNvSpPr/>
          <p:nvPr/>
        </p:nvSpPr>
        <p:spPr>
          <a:xfrm>
            <a:off x="9701784" y="2596896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28600" y="3200400"/>
            <a:ext cx="2194560" cy="1536192"/>
          </a:xfrm>
          <a:prstGeom prst="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1752" y="331012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Management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01752" y="4315968"/>
            <a:ext cx="2048256" cy="256032"/>
          </a:xfrm>
          <a:prstGeom prst="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38" name="Text 36"/>
          <p:cNvSpPr/>
          <p:nvPr/>
        </p:nvSpPr>
        <p:spPr>
          <a:xfrm>
            <a:off x="301752" y="4315968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578608" y="3200400"/>
            <a:ext cx="2194560" cy="1536192"/>
          </a:xfrm>
          <a:prstGeom prst="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51760" y="331012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Returns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651760" y="4315968"/>
            <a:ext cx="2048256" cy="256032"/>
          </a:xfrm>
          <a:prstGeom prst="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42" name="Text 40"/>
          <p:cNvSpPr/>
          <p:nvPr/>
        </p:nvSpPr>
        <p:spPr>
          <a:xfrm>
            <a:off x="2651760" y="4315968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928616" y="3200400"/>
            <a:ext cx="2194560" cy="1536192"/>
          </a:xfrm>
          <a:prstGeom prst="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01768" y="331012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Accounting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001768" y="4315968"/>
            <a:ext cx="2048256" cy="256032"/>
          </a:xfrm>
          <a:prstGeom prst="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46" name="Text 44"/>
          <p:cNvSpPr/>
          <p:nvPr/>
        </p:nvSpPr>
        <p:spPr>
          <a:xfrm>
            <a:off x="5001768" y="4315968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278624" y="3200400"/>
            <a:ext cx="2194560" cy="1536192"/>
          </a:xfrm>
          <a:prstGeom prst="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51776" y="331012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351776" y="4315968"/>
            <a:ext cx="2048256" cy="256032"/>
          </a:xfrm>
          <a:prstGeom prst="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50" name="Text 48"/>
          <p:cNvSpPr/>
          <p:nvPr/>
        </p:nvSpPr>
        <p:spPr>
          <a:xfrm>
            <a:off x="7351776" y="4315968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9628632" y="3200400"/>
            <a:ext cx="2194560" cy="1536192"/>
          </a:xfrm>
          <a:prstGeom prst="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701784" y="3310128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Integration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701784" y="4315968"/>
            <a:ext cx="2048256" cy="256032"/>
          </a:xfrm>
          <a:prstGeom prst="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54" name="Text 52"/>
          <p:cNvSpPr/>
          <p:nvPr/>
        </p:nvSpPr>
        <p:spPr>
          <a:xfrm>
            <a:off x="9701784" y="4315968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28600" y="4919472"/>
            <a:ext cx="2194560" cy="1536192"/>
          </a:xfrm>
          <a:prstGeom prst="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01752" y="5029200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301752" y="6035040"/>
            <a:ext cx="2048256" cy="256032"/>
          </a:xfrm>
          <a:prstGeom prst="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58" name="Text 56"/>
          <p:cNvSpPr/>
          <p:nvPr/>
        </p:nvSpPr>
        <p:spPr>
          <a:xfrm>
            <a:off x="301752" y="6035040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2578608" y="4919472"/>
            <a:ext cx="2194560" cy="1536192"/>
          </a:xfrm>
          <a:prstGeom prst="rect">
            <a:avLst>
              <a:gd name="adj" fmla="val 4762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651760" y="5029200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2651760" y="6035040"/>
            <a:ext cx="2048256" cy="256032"/>
          </a:xfrm>
          <a:prstGeom prst="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62" name="Text 60"/>
          <p:cNvSpPr/>
          <p:nvPr/>
        </p:nvSpPr>
        <p:spPr>
          <a:xfrm>
            <a:off x="2651760" y="6035040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928616" y="4919472"/>
            <a:ext cx="2194560" cy="1536192"/>
          </a:xfrm>
          <a:prstGeom prst="rect">
            <a:avLst>
              <a:gd name="adj" fmla="val 4762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01768" y="5029200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5001768" y="6035040"/>
            <a:ext cx="2048256" cy="256032"/>
          </a:xfrm>
          <a:prstGeom prst="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66" name="Text 64"/>
          <p:cNvSpPr/>
          <p:nvPr/>
        </p:nvSpPr>
        <p:spPr>
          <a:xfrm>
            <a:off x="5001768" y="6035040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278624" y="4919472"/>
            <a:ext cx="2194560" cy="1536192"/>
          </a:xfrm>
          <a:prstGeom prst="rect">
            <a:avLst>
              <a:gd name="adj" fmla="val 4762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51776" y="5029200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7351776" y="6035040"/>
            <a:ext cx="2048256" cy="256032"/>
          </a:xfrm>
          <a:prstGeom prst="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70" name="Text 68"/>
          <p:cNvSpPr/>
          <p:nvPr/>
        </p:nvSpPr>
        <p:spPr>
          <a:xfrm>
            <a:off x="7351776" y="6035040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9628632" y="4919472"/>
            <a:ext cx="2194560" cy="1536192"/>
          </a:xfrm>
          <a:prstGeom prst="rect">
            <a:avLst>
              <a:gd name="adj" fmla="val 4762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01784" y="5029200"/>
            <a:ext cx="2048256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Management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9701784" y="6035040"/>
            <a:ext cx="2048256" cy="256032"/>
          </a:xfrm>
          <a:prstGeom prst="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74" name="Text 72"/>
          <p:cNvSpPr/>
          <p:nvPr/>
        </p:nvSpPr>
        <p:spPr>
          <a:xfrm>
            <a:off x="9701784" y="6035040"/>
            <a:ext cx="20482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Operations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material to finished goods — fully tracked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8016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7160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BOM-Driven Production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62763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Bills of Materials for each product. Production entries auto-calculate material consumption.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7160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Batch Tracking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62763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deducted using First-In-First-Out batches. Full traceability from GRN to dispatch.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6324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31927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Three-stage return workflow — inspection, rejection, and restocking with audit trail.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7180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6324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Gatepass &amp; Dispatch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31927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Invoice-first dispatch with digital signatures. State machine prevents tampering after issue.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63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54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5010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management, GRN against PO, debit notes, and raw material traceability.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63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54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5010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Machine-wise schedules, checklist tracking, spare part inventory, and overdue alerts.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&amp; Finance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GST-compliant, audit-ready, real-time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8872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GST-compliant tax invoices with GSTIN validation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notes, debit notes, and receipt vouchers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Chart of Accounts (COA)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Loss statement — real-time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— live, no month-end closing needed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advances with auto-adjustment on invoices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debit note adjustments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register with daily voucher printing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tracking with category-wise reports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23444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32588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19088" y="158191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KPIs, production efficiency, cash flow, inventory turnover — no Excel needed.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09360" y="301752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310896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19088" y="336499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customer, product, and period. Overdue receivables at a glance.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480060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489204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Reports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19088" y="514807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GSTR-ready summaries exportable for direct filing.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 Module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employee lifecycle management — NEW in Enterprise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274320" y="1234440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Master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" y="1581912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5-tab form: personal, employment, statutory, bank, and family details. Department, designation &amp; shift masters.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1581912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attendance tracking, monthly calendar view, late/absent reports.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532888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624328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Management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" y="2880360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types, approval workflows, WhatsApp notifications, EL year-end carry-forward.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17920" y="2532888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2624328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27648" y="2880360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structures with Basic/HRA/DA components, PF/ESI auto-calc, PT from state slabs.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831336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3922776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TDS &amp; Compliance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4048" y="4178808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TDS projection (Old &amp; New regime), investment declaration (80C/80D/HRA), Form 16 Part A+B.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3831336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27648" y="3922776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4178808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openings with Kanban pipeline, candidate applications, and stage tracking.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5129784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5221224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&amp; Final Settlement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4048" y="5477256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 pending salary, EL encashment, gratuity, and notice recovery.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17920" y="5129784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27648" y="5221224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Payslip Delivery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27648" y="5477256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or individual payslip delivery via WhatsApp and Email — one click.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miss a sales opportunity — NEW in Professional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Shape 8"/>
          <p:cNvSpPr/>
          <p:nvPr/>
        </p:nvSpPr>
        <p:spPr>
          <a:xfrm>
            <a:off x="22860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9456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7764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6052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16052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0956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809244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87552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05840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600" y="1170432"/>
            <a:ext cx="1170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6-Stage Lead Pipeline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860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Board View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832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leads across pipeline stages visually. Instantly see where every deal stands.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16052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024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View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7024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sort, and export your entire lead list for reporting and analysis.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9244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Form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216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company, phone, email, source, product interest, follow-up date, notes.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Assignment-Based Access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832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leads to sales reps. Reps only see and edit their own leads. Managers see all.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6052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7024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Tracking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27024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next follow-up dates. Never let a lead go cold.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9244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0216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0216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 by stage — instant visibility into your sales funnel health.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(ESS) Portal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 your employees — reduce HR workload — NEW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Employees Can 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and print payslips for any month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monthly attendance records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leave balances and apply for leave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tax investment declarations (80C / 80D / HRA)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their own profile and employment details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leave approval status in real-time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5486400" cy="5394960"/>
          </a:xfrm>
          <a:prstGeom prst="rect">
            <a:avLst>
              <a:gd name="adj" fmla="val 169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325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HR Gains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184708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payslip queries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10528" y="208483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download their own payslips anytime.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0" y="288036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294436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leave calls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10528" y="318211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balances visible to employees 24x7.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397764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0528" y="404164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tax declarations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10528" y="427939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submit 80C/80D data online — no forms.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507492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513892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ESS control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10528" y="537667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enables ESS per employee and sets their login password.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login portal — employees never access your main ERP.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WhatsApp-First Workflows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factory floor runs on WhatsApp — so does Kinto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Startup Checklists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receive daily checklists on WhatsApp. Answers captured, AI-interpreted, and logged automatically — no app required.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Notifications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employee applies for leave, the approver gets a WhatsApp message instantly. No email delays.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Payslip Delivery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payslips to all employees via WhatsApp in one click. Individually or in bulk — every month.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Checklist Alerts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Auto-reminders if an operator hasn't completed their startup checklist by the scheduled time.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Expiry Alerts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WhatsApp alerts before quality certificates, vendor contracts, or compliance documents expire.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Responses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Colloki Flow AI interprets operator WhatsApp replies and flags anomalies for supervisors.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Kinto Smart Ops?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Indian manufacturing — not a global ERP adapted for India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GST Built-In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validation, tax invoices, e-way bills, GSTR-ready reports. Designed for Indian compliance from day one — not an afterthought.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Native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operators already use WhatsApp. Kinto meets them there — checklists, alerts, payslips all via WhatsApp.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73+ screens with granular permissions per role. Admin, Manager, Accountant, Operator — each sees only what they need.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completely isolated. Every tenant gets their own secure workspace on our cloud platform.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Plan-Gated Modules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what you need, scale as you grow. Upgrade plans to unlock HR &amp; Payroll, CRM, and more.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Onboarding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trial. No credit card. Most teams are live within a week with guided setup.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Transparent Pricing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plans include a 14-day free trial · No credit card required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5740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base users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3035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 &amp; receipts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035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&amp; sales orders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035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Gatepasses &amp; dispatch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&amp; documents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3035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support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0624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1E3A5F"/>
          </a:solidFill>
          <a:ln w="38100">
            <a:solidFill>
              <a:srgbClr val="2563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0" y="1051560"/>
            <a:ext cx="1828800" cy="320040"/>
          </a:xfrm>
          <a:prstGeom prst="rect">
            <a:avLst>
              <a:gd name="adj" fmla="val 17143"/>
            </a:avLst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1051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34340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34340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₹1,499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589788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34340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base users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34340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37083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455371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Basic features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7083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7" name="Text 35"/>
          <p:cNvSpPr/>
          <p:nvPr/>
        </p:nvSpPr>
        <p:spPr>
          <a:xfrm>
            <a:off x="455371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BOM tracking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7083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9" name="Text 37"/>
          <p:cNvSpPr/>
          <p:nvPr/>
        </p:nvSpPr>
        <p:spPr>
          <a:xfrm>
            <a:off x="455371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accounting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37083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1" name="Text 39"/>
          <p:cNvSpPr/>
          <p:nvPr/>
        </p:nvSpPr>
        <p:spPr>
          <a:xfrm>
            <a:off x="455371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 dashboards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37083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3" name="Text 41"/>
          <p:cNvSpPr/>
          <p:nvPr/>
        </p:nvSpPr>
        <p:spPr>
          <a:xfrm>
            <a:off x="455371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7083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5" name="Text 43"/>
          <p:cNvSpPr/>
          <p:nvPr/>
        </p:nvSpPr>
        <p:spPr>
          <a:xfrm>
            <a:off x="455371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checklists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70832" y="502920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7" name="Text 45"/>
          <p:cNvSpPr/>
          <p:nvPr/>
        </p:nvSpPr>
        <p:spPr>
          <a:xfrm>
            <a:off x="4553712" y="4983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70832" y="541324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9" name="Text 47"/>
          <p:cNvSpPr/>
          <p:nvPr/>
        </p:nvSpPr>
        <p:spPr>
          <a:xfrm>
            <a:off x="4553712" y="5367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04672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8388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18388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₹2,599</a:t>
            </a:r>
            <a:endParaRPr lang="en-US" sz="2800" dirty="0"/>
          </a:p>
        </p:txBody>
      </p:sp>
      <p:sp>
        <p:nvSpPr>
          <p:cNvPr id="53" name="Text 51"/>
          <p:cNvSpPr/>
          <p:nvPr/>
        </p:nvSpPr>
        <p:spPr>
          <a:xfrm>
            <a:off x="973836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8388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base users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18388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1131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7" name="Text 55"/>
          <p:cNvSpPr/>
          <p:nvPr/>
        </p:nvSpPr>
        <p:spPr>
          <a:xfrm>
            <a:off x="839419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Professional features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21131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9" name="Text 57"/>
          <p:cNvSpPr/>
          <p:nvPr/>
        </p:nvSpPr>
        <p:spPr>
          <a:xfrm>
            <a:off x="839419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 module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21131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1" name="Text 59"/>
          <p:cNvSpPr/>
          <p:nvPr/>
        </p:nvSpPr>
        <p:spPr>
          <a:xfrm>
            <a:off x="839419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portal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21131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3" name="Text 61"/>
          <p:cNvSpPr/>
          <p:nvPr/>
        </p:nvSpPr>
        <p:spPr>
          <a:xfrm>
            <a:off x="839419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TDS &amp; compliance (Form 16)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21131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5" name="Text 63"/>
          <p:cNvSpPr/>
          <p:nvPr/>
        </p:nvSpPr>
        <p:spPr>
          <a:xfrm>
            <a:off x="839419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 management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21131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7" name="Text 65"/>
          <p:cNvSpPr/>
          <p:nvPr/>
        </p:nvSpPr>
        <p:spPr>
          <a:xfrm>
            <a:off x="839419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branding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211312" y="502920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9" name="Text 67"/>
          <p:cNvSpPr/>
          <p:nvPr/>
        </p:nvSpPr>
        <p:spPr>
          <a:xfrm>
            <a:off x="8394192" y="4983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support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65760" y="6492240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custom plan for large enterprises? Contact us: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by Indian Manufacturers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feedback from real customers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"Kinto Smart Ops transformed how we track production. Real-time inventory and GST invoicing in one place — we cut our month-end closing time from 3 days to 4 hours."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Rajesh Sharma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Precision Parts Mfg.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6052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HR &amp; Payroll module with automated TDS calculations and payslip delivery via WhatsApp saved us days every month. Employees no longer call us for payslip queries."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Patel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9768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CFO, Alpha Industries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09244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"From purchase orders to dispatch gatepasses, everything flows seamlessly. The CRM pipeline helped us recover 3 deals we had forgotten about. Our team adopted it within a week."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2960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Suresh Kumar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Head, Bharat Engineering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1219200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102352"/>
            <a:ext cx="12192000" cy="1755648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Modernise Your Factory?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hundreds of Indian manufacturers already using Kinto Smart Ops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manage their operations end-to-end.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2563E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card required.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 at kintoops.in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2628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162D4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Demo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live walkthrough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to your factory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32104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162D4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Sales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hello@kintoops.in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XXXXX XXXXX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www.kintoops.in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· Made in India ·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Compare to the Competition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Indian manufacturing — not adapted from a global product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" y="1188720"/>
            <a:ext cx="25603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11887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97480" y="1188720"/>
            <a:ext cx="1828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1887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/ Busy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7220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Books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1188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0" y="1188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82980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Vyapar / Marg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7160" y="1554480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" y="155448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GST Built-In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97480" y="155448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155448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2628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17220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818120" y="1554480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155448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Add-on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82980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Basic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37160" y="1993392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993392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/ BOM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697480" y="1993392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199339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2628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7220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818120" y="1993392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0" y="19933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82980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7552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37160" y="2432304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2880" y="2432304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Integration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697480" y="2432304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0" y="243230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Native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2628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7220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1792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818120" y="2432304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63840" y="2432304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2980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87552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37160" y="2871216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2880" y="287121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HR &amp; Payroll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697480" y="2871216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0" y="287121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52628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7220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818120" y="2871216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63840" y="287121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Needs custom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982980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87552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37160" y="3310128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82880" y="3310128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697480" y="3310128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43200" y="331012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52628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57200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17220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1792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Separate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818120" y="3310128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863840" y="331012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982980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7552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137160" y="3749040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82880" y="374904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697480" y="374904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43200" y="374904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52628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7200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7220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7818120" y="3749040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863840" y="374904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Basic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982980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87552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137160" y="4187952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82880" y="4187952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2697480" y="4187952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743200" y="418795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2628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57200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617220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1792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818120" y="4187952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863840" y="418795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Enterprise+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982980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87552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137160" y="4626864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82880" y="4626864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(SaaS)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697480" y="4626864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743200" y="462686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52628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57200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Hybrid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17220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7818120" y="4626864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863840" y="4626864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982980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87552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Mobile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137160" y="5065776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82880" y="50657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Time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2697480" y="5065776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743200" y="506577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week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452628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57200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weeks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617220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1792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days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7818120" y="5065776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863840" y="50657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months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982980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87552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days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137160" y="5504688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82880" y="5504688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Price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2697480" y="5504688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743200" y="550468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₹999/mo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452628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57200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₹18k/yr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617220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21792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₹999/mo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818120" y="5504688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863840" y="550468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₹2,500+/user</a:t>
            </a:r>
            <a:endParaRPr lang="en-US" sz="850" dirty="0"/>
          </a:p>
        </p:txBody>
      </p:sp>
      <p:sp>
        <p:nvSpPr>
          <p:cNvPr id="138" name="Shape 136"/>
          <p:cNvSpPr/>
          <p:nvPr/>
        </p:nvSpPr>
        <p:spPr>
          <a:xfrm>
            <a:off x="982980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987552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₹1,099/yr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137160" y="5943600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82880" y="594360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2697480" y="594360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743200" y="594360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850" dirty="0"/>
          </a:p>
        </p:txBody>
      </p:sp>
      <p:sp>
        <p:nvSpPr>
          <p:cNvPr id="144" name="Shape 142"/>
          <p:cNvSpPr/>
          <p:nvPr/>
        </p:nvSpPr>
        <p:spPr>
          <a:xfrm>
            <a:off x="452628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57200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617220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21792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7818120" y="5943600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863840" y="594360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(costly)</a:t>
            </a:r>
            <a:endParaRPr lang="en-US" sz="850" dirty="0"/>
          </a:p>
        </p:txBody>
      </p:sp>
      <p:sp>
        <p:nvSpPr>
          <p:cNvPr id="150" name="Shape 148"/>
          <p:cNvSpPr/>
          <p:nvPr/>
        </p:nvSpPr>
        <p:spPr>
          <a:xfrm>
            <a:off x="982980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987552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850" dirty="0"/>
          </a:p>
        </p:txBody>
      </p:sp>
      <p:sp>
        <p:nvSpPr>
          <p:cNvPr id="152" name="Shape 150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3" name="Shape 151"/>
          <p:cNvSpPr/>
          <p:nvPr/>
        </p:nvSpPr>
        <p:spPr>
          <a:xfrm>
            <a:off x="2697480" y="6327648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4" name="Text 152"/>
          <p:cNvSpPr/>
          <p:nvPr/>
        </p:nvSpPr>
        <p:spPr>
          <a:xfrm>
            <a:off x="137160" y="64739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 is the only solution that covers Manufacturing + HR &amp; Payroll + CRM + WhatsApp natively in a single platform.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Customers Choose Kinto Smart Ops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unfair advantages — things no competitor does as well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3444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" y="134416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" y="1344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34416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ERP with Native WhatsApp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8328" y="17830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Indian ERP has WhatsApp baked in. Operators submit checklists, receive payslips, and get alerts — all on WhatsApp. Zero app downloads required.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34416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1344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12280" y="134416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+ HR + CRM in One Price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27648" y="17830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charge separately for manufacturing, HR, and CRM modules — or require different products. Kinto gives all three in one subscription.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" y="301752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" y="312724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" y="31272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12724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Indian Manufacturing from Day One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" y="35661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GST, PT state slabs, TDS old/new regime, PF/ESI — all built-in. Not an afterthought or a plugin. Designed specifically for how Indian factories operate.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301752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312724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6327648" y="31272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12280" y="312724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No One Else Offers at This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27648" y="35661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 portals cost lakhs with SAP or Oracle. Kinto includes a full ESS portal — payslips, leave, tax declarations — in the Enterprise plan at ₹2,599/month.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8600" y="480060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491032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" y="49103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491032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Time-to-Value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38328" y="534924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are live within a week. No 6-month implementation projects, no consultants, no server setup. Start free trial today — go live next Monday.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17920" y="480060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27648" y="491032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6327648" y="49103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12280" y="491032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Pricing, No Hidden Costs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327648" y="534924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monthly price + ₹100–150 per extra user. No modules sold separately. No yearly lock-in forced on you. Cancel anytime.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 Is Clear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saved. Errors eliminated. Revenue protected.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74320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hrs/month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on payroll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admin work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82112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182112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2112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GST invoice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&amp; rework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89904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6089904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089904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89904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closing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manual Excel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97696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8997696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997696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cost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97696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WhatsApp, HR,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vs competitors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4320" y="3337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Kinto  vs  After Kinto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74320" y="3749040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74904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Payroll calculated on Excel — errors, corrections, delays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623560" y="37490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0" y="3749040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53328" y="3749040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Auto-calculated payroll with PF/ESI/TDS — one-click payslips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279392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4279392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GST invoices made manually — wrong tax codes, filing stress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23560" y="427939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943600" y="4279392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53328" y="4279392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GST-validated invoices auto-generated from sales orders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809744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4809744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Sales leads tracked on WhatsApp chats — deals forgotten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23560" y="480974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943600" y="4809744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4809744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CRM pipeline with follow-up dates — zero leads slip through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5340096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5340096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Employees call HR for payslips, leave balance, Form 16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623560" y="534009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0" y="5340096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53328" y="5340096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Employees access everything self-serve — HR freed up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5870448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4048" y="5870448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Machine checklists on paper — no digital record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623560" y="587044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0" y="5870448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53328" y="5870448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WhatsApp checklists — auto-logged, AI-interpreted, auditable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Safe With Us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security — at an SME price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Data Isolation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company gets its own isolated database space. Your data is never mixed with any other tenant. Even our engineers cannot accidentally access your records.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6052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7024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Automated Backups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7024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backups run every night. Last 30 backups retained. Pre-deletion backups triggered before any major change. Restore any data from any point in time.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244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0216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73+ screens with granular permissions. Each user sees only what their role allows. Full audit log of every action taken — who changed what and when.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Authentication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with industry-standard scrypt. Session management with 7-day expiry. Secure cookies with SameSite and Secure flags enforced.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6052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7024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7024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enterprise-grade cloud infrastructure with 99.9% uptime SLA. No server to manage, no IT team needed, always on the latest version.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9244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0216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216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data change, and permission update is logged with user identity, timestamp, and IP. Full compliance trail for internal and external audits.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Is Simple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are fully live within one week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463040" y="2231136"/>
            <a:ext cx="932688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86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&amp; Company Setup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310128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your company (2 minutes)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3968496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GSTIN, address, logo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626864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5394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your team members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5285232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roles and permissions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977640" y="192024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39776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6576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2–3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101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&amp; Configuration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37560" y="3310128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0" name="Text 28"/>
          <p:cNvSpPr/>
          <p:nvPr/>
        </p:nvSpPr>
        <p:spPr>
          <a:xfrm>
            <a:off x="35112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products, raw materials, vendors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3968496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35112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salary structures for payroll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37560" y="4626864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35112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Chart of Accounts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337560" y="5285232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35112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existing data if needed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49440" y="1920240"/>
            <a:ext cx="640080" cy="640080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38" name="Text 36"/>
          <p:cNvSpPr/>
          <p:nvPr/>
        </p:nvSpPr>
        <p:spPr>
          <a:xfrm>
            <a:off x="69494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6294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0369A1"/>
          </a:solidFill>
          <a:ln/>
        </p:spPr>
      </p:sp>
      <p:sp>
        <p:nvSpPr>
          <p:cNvPr id="40" name="Text 38"/>
          <p:cNvSpPr/>
          <p:nvPr/>
        </p:nvSpPr>
        <p:spPr>
          <a:xfrm>
            <a:off x="66294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4–5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722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0369A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819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on Core Operations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09360" y="3310128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4" name="Text 42"/>
          <p:cNvSpPr/>
          <p:nvPr/>
        </p:nvSpPr>
        <p:spPr>
          <a:xfrm>
            <a:off x="64830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raising GST invoices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309360" y="3968496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6" name="Text 44"/>
          <p:cNvSpPr/>
          <p:nvPr/>
        </p:nvSpPr>
        <p:spPr>
          <a:xfrm>
            <a:off x="64830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purchase orders &amp; GRNs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09360" y="4626864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8" name="Text 46"/>
          <p:cNvSpPr/>
          <p:nvPr/>
        </p:nvSpPr>
        <p:spPr>
          <a:xfrm>
            <a:off x="64830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production entries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309360" y="5285232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50" name="Text 48"/>
          <p:cNvSpPr/>
          <p:nvPr/>
        </p:nvSpPr>
        <p:spPr>
          <a:xfrm>
            <a:off x="64830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WhatsApp checklists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921240" y="192024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2" name="Text 50"/>
          <p:cNvSpPr/>
          <p:nvPr/>
        </p:nvSpPr>
        <p:spPr>
          <a:xfrm>
            <a:off x="99212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96012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54" name="Text 52"/>
          <p:cNvSpPr/>
          <p:nvPr/>
        </p:nvSpPr>
        <p:spPr>
          <a:xfrm>
            <a:off x="96012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1440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537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HR, CRM &amp; Advanced Modules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281160" y="331012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8" name="Text 56"/>
          <p:cNvSpPr/>
          <p:nvPr/>
        </p:nvSpPr>
        <p:spPr>
          <a:xfrm>
            <a:off x="94548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employees &amp; run first payroll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281160" y="396849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0" name="Text 58"/>
          <p:cNvSpPr/>
          <p:nvPr/>
        </p:nvSpPr>
        <p:spPr>
          <a:xfrm>
            <a:off x="94548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sales leads to CRM pipeline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281160" y="462686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2" name="Text 60"/>
          <p:cNvSpPr/>
          <p:nvPr/>
        </p:nvSpPr>
        <p:spPr>
          <a:xfrm>
            <a:off x="94548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ESS for employees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281160" y="528523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4" name="Text 62"/>
          <p:cNvSpPr/>
          <p:nvPr/>
        </p:nvSpPr>
        <p:spPr>
          <a:xfrm>
            <a:off x="94548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first MIS dashboard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74320" y="6492240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help? Our onboarding team is available via chat and email throughout your setup.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2026-04-09T16:30:10Z</dcterms:created>
  <dcterms:modified xsi:type="dcterms:W3CDTF">2026-04-09T16:30:10Z</dcterms:modified>
</cp:coreProperties>
</file>