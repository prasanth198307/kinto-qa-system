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F234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0"/>
            <a:ext cx="73152" cy="68580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9144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BEAFE"/>
                </a:solidFill>
              </a:rPr>
              <a:t>Stop running your factory on WhatsApp and Excel.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One platform for invoicing, production, inventory, quality and accounts — built for Indian manufacturers.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393192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93192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Start Free Trial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86200" y="393192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3931920"/>
            <a:ext cx="2926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BEAFE"/>
                </a:solidFill>
              </a:rPr>
              <a:t>Book a Demo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No credit card  ·  No lock-in  ·  Full access for 14 days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0" y="10972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F234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0" y="10972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BEAFE"/>
                </a:solidFill>
              </a:rPr>
              <a:t>GST Compliant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BEAFE"/>
                </a:solidFill>
              </a:rPr>
              <a:t>WhatsApp Ready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BEAFE"/>
                </a:solidFill>
              </a:rPr>
              <a:t>Made for India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62179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kintoops.com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C2626"/>
                </a:solidFill>
              </a:rPr>
              <a:t>THE REALITY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sound familiar?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463040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463040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6276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97280" y="1627632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You call your foreman to know today's production status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463040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6276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086600" y="1627632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Inventory mismatch found only at month-end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035808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035808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97280" y="320040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GST invoice errors caught by your CA after filing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3035808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035808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086600" y="320040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Quality complaint — no checklist record to refer back 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608576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4608576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773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097280" y="4773168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New operator started — no system to train them on process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09360" y="4608576"/>
            <a:ext cx="5715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09360" y="4608576"/>
            <a:ext cx="109728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47731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086600" y="4773168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Payment received but ledger not updated until next day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20040" y="6172200"/>
            <a:ext cx="11548872" cy="384048"/>
          </a:xfrm>
          <a:prstGeom prst="roundRect">
            <a:avLst>
              <a:gd name="adj" fmla="val 1904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6172200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If any of these are true — Kinto Smart Ops was built exactly for you.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</a:rPr>
              <a:t>THE PLATFORM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factory needs — in one screen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417320"/>
            <a:ext cx="374904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" y="149047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Invoicing &amp; GST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03911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GST invoices, e-invoicing, credit notes, UPI QR — all in minutes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0" y="1417320"/>
            <a:ext cx="3749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49047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Inventory &amp; Stock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03911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Raw material batches, FIFO allocation, finished goods, real-time stock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17" name="Shape 15"/>
          <p:cNvSpPr/>
          <p:nvPr/>
        </p:nvSpPr>
        <p:spPr>
          <a:xfrm>
            <a:off x="8275320" y="1417320"/>
            <a:ext cx="3749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8385048" y="149047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Production &amp; BOM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203911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Bill of Materials, material issuance, batch tracking, variance reports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" y="3794760"/>
            <a:ext cx="374904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" y="386791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 Checklists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441655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Operators complete machine checks on WhatsApp — no app to install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5" name="Shape 23"/>
          <p:cNvSpPr/>
          <p:nvPr/>
        </p:nvSpPr>
        <p:spPr>
          <a:xfrm>
            <a:off x="4297680" y="3794760"/>
            <a:ext cx="3749040" cy="5029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4407408" y="386791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Accounting &amp; Ledger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34840" y="441655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Auto journal entries, P&amp;L, Balance Sheet, Trial Balance — always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7532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9" name="Shape 27"/>
          <p:cNvSpPr/>
          <p:nvPr/>
        </p:nvSpPr>
        <p:spPr>
          <a:xfrm>
            <a:off x="8275320" y="3794760"/>
            <a:ext cx="3749040" cy="50292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0" name="Text 28"/>
          <p:cNvSpPr/>
          <p:nvPr/>
        </p:nvSpPr>
        <p:spPr>
          <a:xfrm>
            <a:off x="8385048" y="3867912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MIS &amp; Analytics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4416552"/>
            <a:ext cx="34747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Production KPIs, sales overview, pending payments — live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3C6E"/>
                </a:solidFill>
              </a:rPr>
              <a:t>THE HONEST COMPARISON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probably using one of these. Here's the truth.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3749040" cy="525780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371600"/>
            <a:ext cx="3749040" cy="566928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371600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Tally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2048256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Great for accounting. That's 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523744"/>
            <a:ext cx="3383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968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What it cannot do: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971800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production or BOM tracking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5387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47288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inventory batch management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0142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922776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WhatsApp operator tools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48970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39826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dispatch or gatepass module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496519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873752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You still need Excel for operations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58521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585216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Accounting ✓  Factory operations ✗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1371600"/>
            <a:ext cx="3749040" cy="525780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0" y="1371600"/>
            <a:ext cx="3749040" cy="56692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8" name="Text 26"/>
          <p:cNvSpPr/>
          <p:nvPr/>
        </p:nvSpPr>
        <p:spPr>
          <a:xfrm>
            <a:off x="4297680" y="1371600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Zoho Books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34840" y="2048256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Good invoicing for small trade businesses.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80560" y="2523744"/>
            <a:ext cx="3383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34840" y="25968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What it cannot do: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80560" y="306324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2971800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Not built for manufacturing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35387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4754880" y="3447288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BOM, no production tracking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480560" y="40142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3922776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quality checklists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48970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4754880" y="439826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raw material / batch inventory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480560" y="496519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41" name="Text 39"/>
          <p:cNvSpPr/>
          <p:nvPr/>
        </p:nvSpPr>
        <p:spPr>
          <a:xfrm>
            <a:off x="4754880" y="4873752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Complex setup, needs IT support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480560" y="58521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0560" y="585216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Invoicing ✓  Manufacturing ✗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75320" y="1371600"/>
            <a:ext cx="3749040" cy="525780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75320" y="1371600"/>
            <a:ext cx="3749040" cy="56692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4"/>
          <p:cNvSpPr/>
          <p:nvPr/>
        </p:nvSpPr>
        <p:spPr>
          <a:xfrm>
            <a:off x="8275320" y="1371600"/>
            <a:ext cx="3749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Excel + WhatsApp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412480" y="2048256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</a:rPr>
              <a:t>Free to start. Costly in the long run.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458200" y="2523744"/>
            <a:ext cx="3383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12480" y="259689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What it cannot do: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458200" y="306324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2971800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audit trail — anyone can edit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458200" y="35387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53" name="Text 51"/>
          <p:cNvSpPr/>
          <p:nvPr/>
        </p:nvSpPr>
        <p:spPr>
          <a:xfrm>
            <a:off x="8732520" y="3447288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Version mismatch across the team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458200" y="40142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55" name="Text 53"/>
          <p:cNvSpPr/>
          <p:nvPr/>
        </p:nvSpPr>
        <p:spPr>
          <a:xfrm>
            <a:off x="8732520" y="3922776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GST auto-calculation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458200" y="448970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57" name="Text 55"/>
          <p:cNvSpPr/>
          <p:nvPr/>
        </p:nvSpPr>
        <p:spPr>
          <a:xfrm>
            <a:off x="8732520" y="439826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Zero inventory visibility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8458200" y="496519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59" name="Text 57"/>
          <p:cNvSpPr/>
          <p:nvPr/>
        </p:nvSpPr>
        <p:spPr>
          <a:xfrm>
            <a:off x="8732520" y="4873752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No reports — all manual compilation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8458200" y="5852160"/>
            <a:ext cx="3383280" cy="566928"/>
          </a:xfrm>
          <a:prstGeom prst="roundRect">
            <a:avLst>
              <a:gd name="adj" fmla="val 967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58200" y="5852160"/>
            <a:ext cx="3383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Free ✓  Reliable ✗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59669"/>
                </a:solidFill>
              </a:rPr>
              <a:t>WHY KINTO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does what all of them do — and more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89888"/>
            <a:ext cx="3200400" cy="502920"/>
          </a:xfrm>
          <a:prstGeom prst="rect">
            <a:avLst/>
          </a:prstGeom>
          <a:solidFill>
            <a:srgbClr val="0F2346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389888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Feature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0440" y="1389888"/>
            <a:ext cx="1828800" cy="502920"/>
          </a:xfrm>
          <a:prstGeom prst="rect">
            <a:avLst/>
          </a:prstGeom>
          <a:solidFill>
            <a:srgbClr val="7F1D1D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3898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Excel+WhatsApp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49240" y="1389888"/>
            <a:ext cx="1828800" cy="502920"/>
          </a:xfrm>
          <a:prstGeom prst="rect">
            <a:avLst/>
          </a:prstGeom>
          <a:solidFill>
            <a:srgbClr val="374151"/>
          </a:solidFill>
          <a:ln/>
        </p:spPr>
      </p:sp>
      <p:sp>
        <p:nvSpPr>
          <p:cNvPr id="13" name="Text 11"/>
          <p:cNvSpPr/>
          <p:nvPr/>
        </p:nvSpPr>
        <p:spPr>
          <a:xfrm>
            <a:off x="5349240" y="13898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Tally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178040" y="1389888"/>
            <a:ext cx="1828800" cy="502920"/>
          </a:xfrm>
          <a:prstGeom prst="rect">
            <a:avLst/>
          </a:prstGeom>
          <a:solidFill>
            <a:srgbClr val="7C2D12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138988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Zoho Books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06840" y="1389888"/>
            <a:ext cx="256032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13898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KINTO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1920240"/>
            <a:ext cx="32004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1920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GST Invoice generation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20440" y="1920240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1920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49240" y="1920240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49240" y="1920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✓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78040" y="1920240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78040" y="19202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006840" y="1920240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1920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395728"/>
            <a:ext cx="32004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9768" y="239572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Production / BOM tracking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520440" y="2395728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23957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349240" y="2395728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49240" y="23957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178040" y="2395728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23957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006840" y="2395728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06840" y="23957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20040" y="2871216"/>
            <a:ext cx="32004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9768" y="287121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Inventory batch management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520440" y="2871216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20440" y="287121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349240" y="2871216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287121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178040" y="2871216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78040" y="287121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006840" y="2871216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06840" y="28712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" y="3346704"/>
            <a:ext cx="32004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9768" y="334670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WhatsApp operator checklists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520440" y="3346704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34670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5349240" y="3346704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34670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178040" y="3346704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040" y="334670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9006840" y="3346704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06840" y="334670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20040" y="3822192"/>
            <a:ext cx="32004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9768" y="382219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Double-entry accounting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520440" y="3822192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520440" y="382219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5349240" y="3822192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49240" y="382219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✓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7178040" y="3822192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040" y="382219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✓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006840" y="3822192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006840" y="382219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20040" y="4297680"/>
            <a:ext cx="32004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9768" y="42976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Dispatch &amp; gatepass tracking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520440" y="4297680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52044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5349240" y="4297680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34924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7178040" y="4297680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178040" y="4297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9006840" y="4297680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006840" y="4297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20040" y="4773168"/>
            <a:ext cx="32004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29768" y="477316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Quality control workflow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3520440" y="4773168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520440" y="477316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349240" y="4773168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49240" y="477316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7178040" y="4773168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178040" y="477316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9006840" y="4773168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006840" y="477316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0040" y="5248656"/>
            <a:ext cx="32004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9768" y="524865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Live MIS dashboard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520440" y="5248656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520440" y="524865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349240" y="5248656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349240" y="524865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7178040" y="5248656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178040" y="524865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Partial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006840" y="5248656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006840" y="524865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320040" y="5724144"/>
            <a:ext cx="32004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29768" y="572414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Audit trail for every action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3520440" y="5724144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520440" y="57241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5349240" y="5724144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349240" y="57241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Partial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7178040" y="5724144"/>
            <a:ext cx="1828800" cy="457200"/>
          </a:xfrm>
          <a:prstGeom prst="rect">
            <a:avLst/>
          </a:prstGeom>
          <a:solidFill>
            <a:srgbClr val="0F2346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178040" y="57241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Partial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9006840" y="5724144"/>
            <a:ext cx="2560320" cy="457200"/>
          </a:xfrm>
          <a:prstGeom prst="rect">
            <a:avLst/>
          </a:prstGeom>
          <a:solidFill>
            <a:srgbClr val="0A3B2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006840" y="5724144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✓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20040" y="6199632"/>
            <a:ext cx="32004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9768" y="619963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Price (monthly)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520440" y="6199632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520440" y="61996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Free*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5349240" y="6199632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349240" y="61996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₹18K/yr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7178040" y="6199632"/>
            <a:ext cx="182880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178040" y="619963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₹1,499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06840" y="6199632"/>
            <a:ext cx="2560320" cy="457200"/>
          </a:xfrm>
          <a:prstGeom prst="rect">
            <a:avLst/>
          </a:prstGeom>
          <a:solidFill>
            <a:srgbClr val="161F2E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006840" y="61996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</a:rPr>
              <a:t>₹999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320040" y="6638544"/>
            <a:ext cx="115488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</a:rPr>
              <a:t>*Excel is free but the cost of errors, manual work, and zero visibility is far higher.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</a:rPr>
              <a:t>FEATURE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 Invoicing — Done in Under 2 Minutes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371600"/>
            <a:ext cx="5303520" cy="5074920"/>
          </a:xfrm>
          <a:prstGeom prst="roundRect">
            <a:avLst>
              <a:gd name="adj" fmla="val 1802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3716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Before Kinto (Tally + Excel)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15798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0574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Tally entry + manual GST calculation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81635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71576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Separate Excel for customer tracking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37413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Invoice errors found at GST filing 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3308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03250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No UPI QR — payment follow-up calls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7914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6908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Credit notes done manually, often missed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982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49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No visibility on which invoices are overdue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5925312" cy="5074920"/>
          </a:xfrm>
          <a:prstGeom prst="roundRect">
            <a:avLst>
              <a:gd name="adj" fmla="val 1802"/>
            </a:avLst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0" y="1371600"/>
            <a:ext cx="59253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With Kinto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20574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Invoice created in under 2 minutes — all GST auto-calculated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281635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2715768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Customer ledger updated automatically in real time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347472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374136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GST reports auto-generated — ready for filing anytime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413308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4032504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UPI QR code on every invoice — customers pay faster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479145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4690872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Credit note in one click — linked to original invoice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72200" y="544982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35" name="Text 33"/>
          <p:cNvSpPr/>
          <p:nvPr/>
        </p:nvSpPr>
        <p:spPr>
          <a:xfrm>
            <a:off x="6446520" y="534924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Pending payment dashboard — overdue visible at a glance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532120" y="3657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</a:rPr>
              <a:t>FEATURE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Operators Use WhatsApp — So Does Kinto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BEAFE"/>
                </a:solidFill>
              </a:rPr>
              <a:t>No new app. No training. Operators already know WhatsApp.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" y="1920240"/>
            <a:ext cx="11548872" cy="777240"/>
          </a:xfrm>
          <a:prstGeom prst="roundRect">
            <a:avLst>
              <a:gd name="adj" fmla="val 9412"/>
            </a:avLst>
          </a:prstGeom>
          <a:solidFill>
            <a:srgbClr val="0F2346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07568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75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19933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Morning reminder sent automatically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51560" y="2340864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Kinto sends a WhatsApp message to the operator at shift start — "Machine XYZ startup checklist ready"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816352"/>
            <a:ext cx="11548872" cy="777240"/>
          </a:xfrm>
          <a:prstGeom prst="roundRect">
            <a:avLst>
              <a:gd name="adj" fmla="val 9412"/>
            </a:avLst>
          </a:prstGeom>
          <a:solidFill>
            <a:srgbClr val="0F2346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971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88950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Operator replies on WhatsApp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3236976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Answers each question by typing or quick-reply. No app download. No training needed.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712464"/>
            <a:ext cx="11548872" cy="777240"/>
          </a:xfrm>
          <a:prstGeom prst="roundRect">
            <a:avLst>
              <a:gd name="adj" fmla="val 9412"/>
            </a:avLst>
          </a:prstGeom>
          <a:solidFill>
            <a:srgbClr val="0F234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8679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867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378561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Photo upload for any issue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413308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Operator sends a photo directly in WhatsApp — saved securely and linked to the checklist.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608576"/>
            <a:ext cx="11548872" cy="777240"/>
          </a:xfrm>
          <a:prstGeom prst="roundRect">
            <a:avLst>
              <a:gd name="adj" fmla="val 9412"/>
            </a:avLst>
          </a:prstGeom>
          <a:solidFill>
            <a:srgbClr val="0F2346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476402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640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51560" y="468172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Supervisor notified of failures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5029200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Any failed check triggers instant alert. Nothing slips. No paper signature needed.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5504688"/>
            <a:ext cx="11548872" cy="777240"/>
          </a:xfrm>
          <a:prstGeom prst="roundRect">
            <a:avLst>
              <a:gd name="adj" fmla="val 9412"/>
            </a:avLst>
          </a:prstGeom>
          <a:solidFill>
            <a:srgbClr val="0F2346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56601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5660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55778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Full audit trail in the system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51560" y="5925312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All responses timestamped, stored, searchable. Proof of compliance for every shift, every day.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6400800"/>
            <a:ext cx="11548872" cy="347472"/>
          </a:xfrm>
          <a:prstGeom prst="roundRect">
            <a:avLst>
              <a:gd name="adj" fmla="val 21053"/>
            </a:avLst>
          </a:prstGeom>
          <a:solidFill>
            <a:srgbClr val="00000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6400800"/>
            <a:ext cx="11548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</a:rPr>
              <a:t>Result: Zero missed checklists. Full compliance record. No paper. No WhatsApp screenshot confusion.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A580C"/>
                </a:solidFill>
              </a:rPr>
              <a:t>FEATURE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Tracking That Actually Works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5715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417320"/>
            <a:ext cx="571500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90472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Bill of Materials (BOM)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039112"/>
            <a:ext cx="5440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Define exactly what goes into each product. Kinto auto-calculates what raw material to issue — no guesswork, no over-issuance.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417320"/>
            <a:ext cx="5715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417320"/>
            <a:ext cx="5715000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490472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FIFO Batch Allocation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46520" y="2039112"/>
            <a:ext cx="5440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Oldest stock used first — automatically. No manual tracking. Correct batch consumed every time.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3749040"/>
            <a:ext cx="5715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3749040"/>
            <a:ext cx="571500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822192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Variance Analysis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370832"/>
            <a:ext cx="5440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Planned vs actual material consumption compared automatically. Catch waste before it becomes a loss.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3749040"/>
            <a:ext cx="5715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749040"/>
            <a:ext cx="571500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822192"/>
            <a:ext cx="5440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Finished Goods Control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4370832"/>
            <a:ext cx="5440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Quality approval before goods enter sellable stock. Scrap recorded with reason and evidence. Full traceability.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6199632"/>
            <a:ext cx="11548872" cy="384048"/>
          </a:xfrm>
          <a:prstGeom prst="roundRect">
            <a:avLst>
              <a:gd name="adj" fmla="val 19048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6199632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Tally, Zoho, Excel — none of them have this. This is what makes Kinto different for manufacturers.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59669"/>
                </a:solidFill>
              </a:rPr>
              <a:t>THE ROI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in your factory after you switch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544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59669"/>
                </a:solidFill>
              </a:rPr>
              <a:t>2–4 hrs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saved daily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No manual data entry across multiple tools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15544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3484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GST accuracy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65176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Auto-calculated, auto-reported — no filing errors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75320" y="141732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5544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A580C"/>
                </a:solidFill>
              </a:rPr>
              <a:t>Zero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12480" y="22402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paper records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265176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Everything digital, searchable, auditable from anywhere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319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</a:rPr>
              <a:t>Instant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4617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visibility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02920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Production, inventory, payments — live on your phone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5" name="Text 23"/>
          <p:cNvSpPr/>
          <p:nvPr/>
        </p:nvSpPr>
        <p:spPr>
          <a:xfrm>
            <a:off x="4434840" y="39319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C2626"/>
                </a:solidFill>
              </a:rPr>
              <a:t>30–50%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434840" y="4617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less material waste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34840" y="502920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BOM tracking catches over-issuance every day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75320" y="3794760"/>
            <a:ext cx="3749040" cy="2148840"/>
          </a:xfrm>
          <a:prstGeom prst="roundRect">
            <a:avLst>
              <a:gd name="adj" fmla="val 4255"/>
            </a:avLst>
          </a:prstGeom>
          <a:solidFill>
            <a:srgbClr val="0F2346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0" y="393192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3C6E"/>
                </a:solidFill>
              </a:rPr>
              <a:t>Faster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412480" y="4617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customer payments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0" y="5029200"/>
            <a:ext cx="3474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UPI QR + payment dashboard = fewer follow-up calls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</a:rPr>
              <a:t>GETTING STARTED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be up and running in 3 days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3749040" cy="42062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37360" y="11887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57200" y="22402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Day 1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Setup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32918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We configure your company, GST details, product masters and user roles — done in 2 hours.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417320"/>
            <a:ext cx="3749040" cy="42062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5000" y="11887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571500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434840" y="22402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Day 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Import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26280" y="3017520"/>
            <a:ext cx="32918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Your existing customers, vendors and opening balances imported. We handle the data migration for you.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75320" y="1417320"/>
            <a:ext cx="3749040" cy="42062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0" y="118872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/>
        </p:spPr>
      </p:sp>
      <p:sp>
        <p:nvSpPr>
          <p:cNvPr id="20" name="Text 18"/>
          <p:cNvSpPr/>
          <p:nvPr/>
        </p:nvSpPr>
        <p:spPr>
          <a:xfrm>
            <a:off x="969264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412480" y="2240280"/>
            <a:ext cx="3474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Day 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Go Live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503920" y="3017520"/>
            <a:ext cx="32918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Your team trained. First invoice raised. WhatsApp checklist active. You're live and running.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" y="5806440"/>
            <a:ext cx="11548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No IT team needed. No server setup. Works on any phone or laptop browser — right now.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6236208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623620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  Free data migration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1840" y="6236208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623620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  Free onboarding call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6236208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623620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  Free 14-day trial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235440" y="6236208"/>
            <a:ext cx="2834640" cy="384048"/>
          </a:xfrm>
          <a:prstGeom prst="roundRect">
            <a:avLst>
              <a:gd name="adj" fmla="val 19048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35440" y="6236208"/>
            <a:ext cx="2834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  Cancel anytime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645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3C6E"/>
                </a:solidFill>
              </a:rPr>
              <a:t>PRICING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502920"/>
            <a:ext cx="114300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 — no surprises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kintoops.com  |  14-Day Free Trial — No Credit Card Needed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3749040" cy="5833872"/>
          </a:xfrm>
          <a:prstGeom prst="roundRect">
            <a:avLst>
              <a:gd name="adj" fmla="val 292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9601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Starter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572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93B"/>
                </a:solidFill>
              </a:rPr>
              <a:t>₹999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320040" y="23408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/month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26334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Up to 3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2999232"/>
            <a:ext cx="3200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127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Invoicing &amp; GST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5844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Purchase Orders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0416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Accounting &amp; Ledger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4988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Expense Tracking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9560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Standard Reports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413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✓  Email Support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868680"/>
            <a:ext cx="3749040" cy="5833872"/>
          </a:xfrm>
          <a:prstGeom prst="roundRect">
            <a:avLst>
              <a:gd name="adj" fmla="val 2927"/>
            </a:avLst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4800600" y="566928"/>
            <a:ext cx="2743200" cy="347472"/>
          </a:xfrm>
          <a:prstGeom prst="roundRect">
            <a:avLst>
              <a:gd name="adj" fmla="val 21053"/>
            </a:avLst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56692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★  MOST POPULAR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297680" y="9601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Professional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97680" y="1572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7706"/>
                </a:solidFill>
              </a:rPr>
              <a:t>₹2,499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4297680" y="23408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/month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97680" y="26334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3C5FD"/>
                </a:solidFill>
              </a:rPr>
              <a:t>Up to 10 users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2999232"/>
            <a:ext cx="3200400" cy="0"/>
          </a:xfrm>
          <a:prstGeom prst="line">
            <a:avLst/>
          </a:prstGeom>
          <a:noFill/>
          <a:ln w="12700">
            <a:solidFill>
              <a:srgbClr val="4B83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3127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Everything in Starter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26280" y="35844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BOM &amp; Production Tracking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40416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WhatsApp Checklists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26280" y="44988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Document Management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49560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MIS Analytics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26280" y="5413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Email + Phone Support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75320" y="868680"/>
            <a:ext cx="3749040" cy="5833872"/>
          </a:xfrm>
          <a:prstGeom prst="roundRect">
            <a:avLst>
              <a:gd name="adj" fmla="val 2927"/>
            </a:avLst>
          </a:prstGeom>
          <a:solidFill>
            <a:srgbClr val="1A3C6E"/>
          </a:solidFill>
          <a:ln/>
        </p:spPr>
      </p:sp>
      <p:sp>
        <p:nvSpPr>
          <p:cNvPr id="35" name="Text 33"/>
          <p:cNvSpPr/>
          <p:nvPr/>
        </p:nvSpPr>
        <p:spPr>
          <a:xfrm>
            <a:off x="8275320" y="9601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Enterprise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275320" y="1572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Custom</a:t>
            </a:r>
            <a:endParaRPr lang="en-US" sz="3400" dirty="0"/>
          </a:p>
        </p:txBody>
      </p:sp>
      <p:sp>
        <p:nvSpPr>
          <p:cNvPr id="37" name="Text 35"/>
          <p:cNvSpPr/>
          <p:nvPr/>
        </p:nvSpPr>
        <p:spPr>
          <a:xfrm>
            <a:off x="8275320" y="234086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pricing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275320" y="26334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</a:rPr>
              <a:t>Unlimited users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49640" y="2999232"/>
            <a:ext cx="3200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03920" y="3127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Everything in Professional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503920" y="35844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Unlimited storage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03920" y="40416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REST API access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503920" y="44988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Custom reports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03920" y="49560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Dedicated account manager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503920" y="5413248"/>
            <a:ext cx="3291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✓  SLA guarantee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0040" y="6400800"/>
            <a:ext cx="11548872" cy="384048"/>
          </a:xfrm>
          <a:prstGeom prst="roundRect">
            <a:avLst>
              <a:gd name="adj" fmla="val 1904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6400800"/>
            <a:ext cx="11548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Tally: ₹18,000/yr (accounting only)  ·  Zoho Books: ₹1,499/mo (no manufacturing)  ·  Kinto: from ₹999/mo (full operations + accounts)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3C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0"/>
            <a:ext cx="73152" cy="6858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5486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transform your factory operations?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BEAFE"/>
                </a:solidFill>
              </a:rPr>
              <a:t>Join manufacturing companies already running smarter on Kinto Smart Ops.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011680"/>
            <a:ext cx="10972800" cy="658368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11680"/>
            <a:ext cx="10972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</a:rPr>
              <a:t>Already using Tally? Zoho? Excel?  →  We migrate your data for free. You keep your history. Nothing is lost.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F2346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834640"/>
            <a:ext cx="3566160" cy="566928"/>
          </a:xfrm>
          <a:prstGeom prst="round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34640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Start Free Trial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52044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14-day full access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No credit card needed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Start in 5 minutes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51560" y="5074920"/>
            <a:ext cx="3017520" cy="475488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5074920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kintoops.com/trial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28346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F2346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2834640"/>
            <a:ext cx="3566160" cy="566928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2834640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Book a Live Demo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00600" y="352044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See every feature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Your questions answered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30-minute session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92040" y="5074920"/>
            <a:ext cx="3017520" cy="475488"/>
          </a:xfrm>
          <a:prstGeom prst="roundRect">
            <a:avLst>
              <a:gd name="adj" fmla="val 15385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5074920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kintoops.com/demo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458200" y="283464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0F2346"/>
          </a:solidFill>
          <a:ln/>
        </p:spPr>
      </p:sp>
      <p:sp>
        <p:nvSpPr>
          <p:cNvPr id="22" name="Shape 20"/>
          <p:cNvSpPr/>
          <p:nvPr/>
        </p:nvSpPr>
        <p:spPr>
          <a:xfrm>
            <a:off x="8458200" y="2834640"/>
            <a:ext cx="3566160" cy="566928"/>
          </a:xfrm>
          <a:prstGeom prst="round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8458200" y="2834640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Talk to Us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41080" y="3520440"/>
            <a:ext cx="3200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Call / WhatsApp 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We'll help you decide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if Kinto is right for you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2520" y="5074920"/>
            <a:ext cx="3017520" cy="475488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8732520" y="5074920"/>
            <a:ext cx="3017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+91 XXXXX XXXXX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760720"/>
            <a:ext cx="2148840" cy="347472"/>
          </a:xfrm>
          <a:prstGeom prst="roundRect">
            <a:avLst>
              <a:gd name="adj" fmla="val 21053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76072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BEAFE"/>
                </a:solidFill>
              </a:rPr>
              <a:t>GST Compliant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063240" y="5760720"/>
            <a:ext cx="2148840" cy="347472"/>
          </a:xfrm>
          <a:prstGeom prst="roundRect">
            <a:avLst>
              <a:gd name="adj" fmla="val 21053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3240" y="576072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BEAFE"/>
                </a:solidFill>
              </a:rPr>
              <a:t>WhatsApp Ready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349240" y="5760720"/>
            <a:ext cx="2148840" cy="347472"/>
          </a:xfrm>
          <a:prstGeom prst="roundRect">
            <a:avLst>
              <a:gd name="adj" fmla="val 21053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49240" y="576072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BEAFE"/>
                </a:solidFill>
              </a:rPr>
              <a:t>No IT Team Needed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635240" y="5760720"/>
            <a:ext cx="2148840" cy="347472"/>
          </a:xfrm>
          <a:prstGeom prst="roundRect">
            <a:avLst>
              <a:gd name="adj" fmla="val 21053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576072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BEAFE"/>
                </a:solidFill>
              </a:rPr>
              <a:t>Free Data Migration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921240" y="5760720"/>
            <a:ext cx="2148840" cy="347472"/>
          </a:xfrm>
          <a:prstGeom prst="roundRect">
            <a:avLst>
              <a:gd name="adj" fmla="val 21053"/>
            </a:avLst>
          </a:prstGeom>
          <a:solidFill>
            <a:srgbClr val="0F2346"/>
          </a:solidFill>
          <a:ln w="12700">
            <a:solidFill>
              <a:srgbClr val="4B8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21240" y="576072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BEAFE"/>
                </a:solidFill>
              </a:rPr>
              <a:t>Made for Indian Manufacturers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7240" y="629107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kintoops.com  |  "Stop managing your factory on WhatsApp and Excel."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2026-04-07T06:43:19Z</dcterms:created>
  <dcterms:modified xsi:type="dcterms:W3CDTF">2026-04-07T06:43:19Z</dcterms:modified>
</cp:coreProperties>
</file>