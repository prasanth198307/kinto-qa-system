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9"/>
    <p:sldId id="269" r:id="rId20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0F234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0"/>
            <a:ext cx="73152" cy="6858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144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KINTO SMART OPS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BEAFE"/>
                </a:solidFill>
              </a:rPr>
              <a:t>Stop running your factory on WhatsApp and Excel.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</a:rPr>
              <a:t>One platform for invoicing, production, inventory, quality and accounts — built for Indian manufacturers.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3931920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93192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Start Free Trial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86200" y="3931920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0F2346"/>
          </a:solidFill>
          <a:ln w="12700">
            <a:solidFill>
              <a:srgbClr val="4B8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393192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BEAFE"/>
                </a:solidFill>
              </a:rPr>
              <a:t>Book a Demo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4709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No credit card  ·  No lock-in  ·  Full access for 14 days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0" y="109728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0F2346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10972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BEAFE"/>
                </a:solidFill>
              </a:rPr>
              <a:t>GST Compliant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BEAFE"/>
                </a:solidFill>
              </a:rPr>
              <a:t>WhatsApp Ready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BEAFE"/>
                </a:solidFill>
              </a:rPr>
              <a:t>Made for India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6217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kintoops.com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C2626"/>
                </a:solidFill>
              </a:rPr>
              <a:t>THE REALITY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sound familiar?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kintoops.com  |  14-Day Free Trial — No Credit Card Needed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463040"/>
            <a:ext cx="5715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463040"/>
            <a:ext cx="109728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✗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1627632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You call your foreman to know today's production status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5715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463040"/>
            <a:ext cx="109728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✗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086600" y="1627632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Inventory mismatch found only at month-end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035808"/>
            <a:ext cx="5715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035808"/>
            <a:ext cx="109728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✗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32004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GST invoice errors caught by your CA after filing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035808"/>
            <a:ext cx="5715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3035808"/>
            <a:ext cx="109728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✗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086600" y="32004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Quality complaint — no checklist record to refer back 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4608576"/>
            <a:ext cx="5715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608576"/>
            <a:ext cx="109728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773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✗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97280" y="4773168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New operator started — no system to train them on process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4608576"/>
            <a:ext cx="5715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4608576"/>
            <a:ext cx="109728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4773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✗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086600" y="4773168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Payment received but ledger not updated until next day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" y="6172200"/>
            <a:ext cx="11548872" cy="384048"/>
          </a:xfrm>
          <a:prstGeom prst="roundRect">
            <a:avLst>
              <a:gd name="adj" fmla="val 1904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6172200"/>
            <a:ext cx="11548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If any of these are true — Kinto Smart Ops was built exactly for you.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</a:rPr>
              <a:t>THE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your factory needs — in one screen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kintoops.com  |  14-Day Free Trial — No Credit Card Needed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0F2346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1417320"/>
            <a:ext cx="374904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" y="149047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Invoicing &amp; GST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039112"/>
            <a:ext cx="3474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GST invoices, e-invoicing, credit notes, UPI QR — all in minutes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141732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0F2346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0" y="1417320"/>
            <a:ext cx="374904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4407408" y="149047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Inventory &amp; Stock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34840" y="2039112"/>
            <a:ext cx="3474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Raw material batches, FIFO allocation, finished goods, real-time stock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75320" y="141732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0F2346"/>
          </a:solidFill>
          <a:ln/>
        </p:spPr>
      </p:sp>
      <p:sp>
        <p:nvSpPr>
          <p:cNvPr id="17" name="Shape 15"/>
          <p:cNvSpPr/>
          <p:nvPr/>
        </p:nvSpPr>
        <p:spPr>
          <a:xfrm>
            <a:off x="8275320" y="1417320"/>
            <a:ext cx="3749040" cy="502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8" name="Text 16"/>
          <p:cNvSpPr/>
          <p:nvPr/>
        </p:nvSpPr>
        <p:spPr>
          <a:xfrm>
            <a:off x="8385048" y="149047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Production &amp; BOM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2039112"/>
            <a:ext cx="3474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Bill of Materials, material issuance, batch tracking, variance reports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79476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0F2346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3794760"/>
            <a:ext cx="374904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" y="386791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WhatsApp Checklists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416552"/>
            <a:ext cx="3474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Operators complete machine checks on WhatsApp — no app to install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79476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0F2346"/>
          </a:solidFill>
          <a:ln/>
        </p:spPr>
      </p:sp>
      <p:sp>
        <p:nvSpPr>
          <p:cNvPr id="25" name="Shape 23"/>
          <p:cNvSpPr/>
          <p:nvPr/>
        </p:nvSpPr>
        <p:spPr>
          <a:xfrm>
            <a:off x="4297680" y="3794760"/>
            <a:ext cx="374904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407408" y="386791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Accounting &amp; Ledger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34840" y="4416552"/>
            <a:ext cx="3474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Auto journal entries, P&amp;L, Balance Sheet, Trial Balance — always accurate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75320" y="379476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0F2346"/>
          </a:solidFill>
          <a:ln/>
        </p:spPr>
      </p:sp>
      <p:sp>
        <p:nvSpPr>
          <p:cNvPr id="29" name="Shape 27"/>
          <p:cNvSpPr/>
          <p:nvPr/>
        </p:nvSpPr>
        <p:spPr>
          <a:xfrm>
            <a:off x="8275320" y="3794760"/>
            <a:ext cx="3749040" cy="50292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30" name="Text 28"/>
          <p:cNvSpPr/>
          <p:nvPr/>
        </p:nvSpPr>
        <p:spPr>
          <a:xfrm>
            <a:off x="8385048" y="386791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MIS &amp; Analytics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12480" y="4416552"/>
            <a:ext cx="3474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Production KPIs, sales overview, pending payments — live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0F234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Already Built. Running Live.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4 / 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</a:rPr>
              <a:t>Not a concept. Not a prototype. Live in production at a real manufacturing factory.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0F2346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325880"/>
            <a:ext cx="109728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5087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GST-Compliant Invoicing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0116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E-invoice, UPI QR, credit notes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1463040"/>
            <a:ext cx="822960" cy="347472"/>
          </a:xfrm>
          <a:prstGeom prst="roundRect">
            <a:avLst>
              <a:gd name="adj" fmla="val 26316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46304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09360" y="132588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0F2346"/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1325880"/>
            <a:ext cx="109728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5087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BOM-Driven Production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20116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Material issuance, batch tracking, variance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972800" y="1463040"/>
            <a:ext cx="822960" cy="347472"/>
          </a:xfrm>
          <a:prstGeom prst="roundRect">
            <a:avLst>
              <a:gd name="adj" fmla="val 26316"/>
            </a:avLst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0" y="146304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LIVE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0F2346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2971800"/>
            <a:ext cx="109728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1546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WhatsApp Checklists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6576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Operators complete tasks via WhatsApp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3108960"/>
            <a:ext cx="822960" cy="347472"/>
          </a:xfrm>
          <a:prstGeom prst="roundRect">
            <a:avLst>
              <a:gd name="adj" fmla="val 26316"/>
            </a:avLst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310896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LIVE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09360" y="297180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0F2346"/>
          </a:solidFill>
          <a:ln/>
        </p:spPr>
      </p:sp>
      <p:sp>
        <p:nvSpPr>
          <p:cNvPr id="27" name="Shape 25"/>
          <p:cNvSpPr/>
          <p:nvPr/>
        </p:nvSpPr>
        <p:spPr>
          <a:xfrm>
            <a:off x="6309360" y="2971800"/>
            <a:ext cx="109728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31546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Inventory Management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37960" y="36576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FIFO allocation, scrap tracking, returns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972800" y="3108960"/>
            <a:ext cx="822960" cy="347472"/>
          </a:xfrm>
          <a:prstGeom prst="roundRect">
            <a:avLst>
              <a:gd name="adj" fmla="val 26316"/>
            </a:avLst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10972800" y="310896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LIVE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61772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0F2346"/>
          </a:solidFill>
          <a:ln/>
        </p:spPr>
      </p:sp>
      <p:sp>
        <p:nvSpPr>
          <p:cNvPr id="33" name="Shape 31"/>
          <p:cNvSpPr/>
          <p:nvPr/>
        </p:nvSpPr>
        <p:spPr>
          <a:xfrm>
            <a:off x="365760" y="4617720"/>
            <a:ext cx="109728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48006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Double-Entry Accounting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4360" y="53035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Auto journal entries for every transaction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0" y="4754880"/>
            <a:ext cx="822960" cy="347472"/>
          </a:xfrm>
          <a:prstGeom prst="roundRect">
            <a:avLst>
              <a:gd name="adj" fmla="val 26316"/>
            </a:avLst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475488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LIVE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09360" y="461772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0F2346"/>
          </a:solidFill>
          <a:ln/>
        </p:spPr>
      </p:sp>
      <p:sp>
        <p:nvSpPr>
          <p:cNvPr id="39" name="Shape 37"/>
          <p:cNvSpPr/>
          <p:nvPr/>
        </p:nvSpPr>
        <p:spPr>
          <a:xfrm>
            <a:off x="6309360" y="4617720"/>
            <a:ext cx="109728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6537960" y="48006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MIS Executive Dashboard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537960" y="53035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KPIs, analytics, production insights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972800" y="4754880"/>
            <a:ext cx="822960" cy="347472"/>
          </a:xfrm>
          <a:prstGeom prst="roundRect">
            <a:avLst>
              <a:gd name="adj" fmla="val 26316"/>
            </a:avLst>
          </a:prstGeom>
          <a:solidFill>
            <a:srgbClr val="059669"/>
          </a:solidFill>
          <a:ln/>
        </p:spPr>
      </p:sp>
      <p:sp>
        <p:nvSpPr>
          <p:cNvPr id="43" name="Text 41"/>
          <p:cNvSpPr/>
          <p:nvPr/>
        </p:nvSpPr>
        <p:spPr>
          <a:xfrm>
            <a:off x="10972800" y="475488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LIVE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3C6E"/>
                </a:solidFill>
              </a:rPr>
              <a:t>THE HONEST COMPARISON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probably using one of these. Here's the truth.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kintoops.com  |  14-Day Free Trial — No Credit Card Needed</a:t>
            </a:r>
            <a:endParaRPr lang="en-US" sz="900" dirty="0"/>
          </a:p>
        </p:txBody>
      </p:sp>
      <p:sp>
        <p:nvSpPr>
          <p:cNvPr id="100" name="CardBg100"/>
          <p:cNvSpPr/>
          <p:nvPr/>
        </p:nvSpPr>
        <p:spPr>
          <a:xfrm>
            <a:off x="320040" y="1260000"/>
            <a:ext cx="3749040" cy="25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01" name="CardHdr101"/>
          <p:cNvSpPr/>
          <p:nvPr/>
        </p:nvSpPr>
        <p:spPr>
          <a:xfrm>
            <a:off x="320040" y="1260000"/>
            <a:ext cx="3749040" cy="4400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02" name="HdrTxt102"/>
          <p:cNvSpPr/>
          <p:nvPr/>
        </p:nvSpPr>
        <p:spPr>
          <a:xfrm>
            <a:off x="320040" y="1260000"/>
            <a:ext cx="3749040" cy="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Tally</a:t>
            </a:r>
          </a:p>
        </p:txBody>
      </p:sp>
      <p:sp>
        <p:nvSpPr>
          <p:cNvPr id="103" name="Tag103"/>
          <p:cNvSpPr/>
          <p:nvPr/>
        </p:nvSpPr>
        <p:spPr>
          <a:xfrm>
            <a:off x="457200" y="1750000"/>
            <a:ext cx="3474720" cy="2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0" dirty="0">
                <a:solidFill>
                  <a:srgbClr val="475569"/>
                </a:solidFill>
              </a:rPr>
              <a:t>Great for accounting. That's it.</a:t>
            </a:r>
          </a:p>
        </p:txBody>
      </p:sp>
      <p:sp>
        <p:nvSpPr>
          <p:cNvPr id="104" name="Div104"/>
          <p:cNvSpPr/>
          <p:nvPr/>
        </p:nvSpPr>
        <p:spPr>
          <a:xfrm>
            <a:off x="502920" y="2070000"/>
            <a:ext cx="3383280" cy="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</p:sp>
      <p:sp>
        <p:nvSpPr>
          <p:cNvPr id="105" name="Lbl105"/>
          <p:cNvSpPr/>
          <p:nvPr/>
        </p:nvSpPr>
        <p:spPr>
          <a:xfrm>
            <a:off x="457200" y="2120000"/>
            <a:ext cx="3474720" cy="2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What it cannot do:</a:t>
            </a:r>
          </a:p>
        </p:txBody>
      </p:sp>
      <p:sp>
        <p:nvSpPr>
          <p:cNvPr id="106" name="Circ106"/>
          <p:cNvSpPr/>
          <p:nvPr/>
        </p:nvSpPr>
        <p:spPr>
          <a:xfrm>
            <a:off x="502920" y="2480000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07" name="BulTxt107"/>
          <p:cNvSpPr/>
          <p:nvPr/>
        </p:nvSpPr>
        <p:spPr>
          <a:xfrm>
            <a:off x="777240" y="2400000"/>
            <a:ext cx="315468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0" dirty="0">
                <a:solidFill>
                  <a:srgbClr val="1E293B"/>
                </a:solidFill>
              </a:rPr>
              <a:t>No production or BOM tracking</a:t>
            </a:r>
          </a:p>
        </p:txBody>
      </p:sp>
      <p:sp>
        <p:nvSpPr>
          <p:cNvPr id="108" name="Circ108"/>
          <p:cNvSpPr/>
          <p:nvPr/>
        </p:nvSpPr>
        <p:spPr>
          <a:xfrm>
            <a:off x="502920" y="2830000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09" name="BulTxt109"/>
          <p:cNvSpPr/>
          <p:nvPr/>
        </p:nvSpPr>
        <p:spPr>
          <a:xfrm>
            <a:off x="777240" y="2750000"/>
            <a:ext cx="315468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0" dirty="0">
                <a:solidFill>
                  <a:srgbClr val="1E293B"/>
                </a:solidFill>
              </a:rPr>
              <a:t>No inventory batch management</a:t>
            </a:r>
          </a:p>
        </p:txBody>
      </p:sp>
      <p:sp>
        <p:nvSpPr>
          <p:cNvPr id="110" name="Circ110"/>
          <p:cNvSpPr/>
          <p:nvPr/>
        </p:nvSpPr>
        <p:spPr>
          <a:xfrm>
            <a:off x="502920" y="3180000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1" name="BulTxt111"/>
          <p:cNvSpPr/>
          <p:nvPr/>
        </p:nvSpPr>
        <p:spPr>
          <a:xfrm>
            <a:off x="777240" y="3100000"/>
            <a:ext cx="315468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0" dirty="0">
                <a:solidFill>
                  <a:srgbClr val="1E293B"/>
                </a:solidFill>
              </a:rPr>
              <a:t>No WhatsApp operator tools</a:t>
            </a:r>
          </a:p>
        </p:txBody>
      </p:sp>
      <p:sp>
        <p:nvSpPr>
          <p:cNvPr id="112" name="FtrBg112"/>
          <p:cNvSpPr/>
          <p:nvPr/>
        </p:nvSpPr>
        <p:spPr>
          <a:xfrm>
            <a:off x="502920" y="3390000"/>
            <a:ext cx="3383280" cy="390000"/>
          </a:xfrm>
          <a:prstGeom prst="rect">
            <a:avLst/>
          </a:prstGeom>
          <a:solidFill>
            <a:srgbClr val="FEE2E2"/>
          </a:solidFill>
          <a:ln w="9525">
            <a:solidFill>
              <a:srgbClr val="DC2626"/>
            </a:solidFill>
          </a:ln>
        </p:spPr>
      </p:sp>
      <p:sp>
        <p:nvSpPr>
          <p:cNvPr id="113" name="FtrTxt113"/>
          <p:cNvSpPr/>
          <p:nvPr/>
        </p:nvSpPr>
        <p:spPr>
          <a:xfrm>
            <a:off x="502920" y="3390000"/>
            <a:ext cx="3383280" cy="39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Accounting ✓  Factory ops ✗</a:t>
            </a:r>
          </a:p>
        </p:txBody>
      </p:sp>
      <p:sp>
        <p:nvSpPr>
          <p:cNvPr id="114" name="CardBg114"/>
          <p:cNvSpPr/>
          <p:nvPr/>
        </p:nvSpPr>
        <p:spPr>
          <a:xfrm>
            <a:off x="4297680" y="1260000"/>
            <a:ext cx="3749040" cy="25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5" name="CardHdr115"/>
          <p:cNvSpPr/>
          <p:nvPr/>
        </p:nvSpPr>
        <p:spPr>
          <a:xfrm>
            <a:off x="4297680" y="1260000"/>
            <a:ext cx="3749040" cy="4400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16" name="HdrTxt116"/>
          <p:cNvSpPr/>
          <p:nvPr/>
        </p:nvSpPr>
        <p:spPr>
          <a:xfrm>
            <a:off x="4297680" y="1260000"/>
            <a:ext cx="3749040" cy="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Zoho Books</a:t>
            </a:r>
          </a:p>
        </p:txBody>
      </p:sp>
      <p:sp>
        <p:nvSpPr>
          <p:cNvPr id="117" name="Tag117"/>
          <p:cNvSpPr/>
          <p:nvPr/>
        </p:nvSpPr>
        <p:spPr>
          <a:xfrm>
            <a:off x="4434840" y="1750000"/>
            <a:ext cx="3474720" cy="2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0" dirty="0">
                <a:solidFill>
                  <a:srgbClr val="475569"/>
                </a:solidFill>
              </a:rPr>
              <a:t>Good invoicing for small trade businesses.</a:t>
            </a:r>
          </a:p>
        </p:txBody>
      </p:sp>
      <p:sp>
        <p:nvSpPr>
          <p:cNvPr id="118" name="Div118"/>
          <p:cNvSpPr/>
          <p:nvPr/>
        </p:nvSpPr>
        <p:spPr>
          <a:xfrm>
            <a:off x="4480560" y="2070000"/>
            <a:ext cx="3383280" cy="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</p:sp>
      <p:sp>
        <p:nvSpPr>
          <p:cNvPr id="119" name="Lbl119"/>
          <p:cNvSpPr/>
          <p:nvPr/>
        </p:nvSpPr>
        <p:spPr>
          <a:xfrm>
            <a:off x="4434840" y="2120000"/>
            <a:ext cx="3474720" cy="2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What it cannot do:</a:t>
            </a:r>
          </a:p>
        </p:txBody>
      </p:sp>
      <p:sp>
        <p:nvSpPr>
          <p:cNvPr id="120" name="Circ120"/>
          <p:cNvSpPr/>
          <p:nvPr/>
        </p:nvSpPr>
        <p:spPr>
          <a:xfrm>
            <a:off x="4480560" y="2480000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1" name="BulTxt121"/>
          <p:cNvSpPr/>
          <p:nvPr/>
        </p:nvSpPr>
        <p:spPr>
          <a:xfrm>
            <a:off x="4754880" y="2400000"/>
            <a:ext cx="315468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0" dirty="0">
                <a:solidFill>
                  <a:srgbClr val="1E293B"/>
                </a:solidFill>
              </a:rPr>
              <a:t>Not built for manufacturing</a:t>
            </a:r>
          </a:p>
        </p:txBody>
      </p:sp>
      <p:sp>
        <p:nvSpPr>
          <p:cNvPr id="122" name="Circ122"/>
          <p:cNvSpPr/>
          <p:nvPr/>
        </p:nvSpPr>
        <p:spPr>
          <a:xfrm>
            <a:off x="4480560" y="2830000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3" name="BulTxt123"/>
          <p:cNvSpPr/>
          <p:nvPr/>
        </p:nvSpPr>
        <p:spPr>
          <a:xfrm>
            <a:off x="4754880" y="2750000"/>
            <a:ext cx="315468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0" dirty="0">
                <a:solidFill>
                  <a:srgbClr val="1E293B"/>
                </a:solidFill>
              </a:rPr>
              <a:t>No BOM, no production tracking</a:t>
            </a:r>
          </a:p>
        </p:txBody>
      </p:sp>
      <p:sp>
        <p:nvSpPr>
          <p:cNvPr id="124" name="Circ124"/>
          <p:cNvSpPr/>
          <p:nvPr/>
        </p:nvSpPr>
        <p:spPr>
          <a:xfrm>
            <a:off x="4480560" y="3180000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5" name="BulTxt125"/>
          <p:cNvSpPr/>
          <p:nvPr/>
        </p:nvSpPr>
        <p:spPr>
          <a:xfrm>
            <a:off x="4754880" y="3100000"/>
            <a:ext cx="315468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0" dirty="0">
                <a:solidFill>
                  <a:srgbClr val="1E293B"/>
                </a:solidFill>
              </a:rPr>
              <a:t>No WhatsApp or checklist tools</a:t>
            </a:r>
          </a:p>
        </p:txBody>
      </p:sp>
      <p:sp>
        <p:nvSpPr>
          <p:cNvPr id="126" name="FtrBg126"/>
          <p:cNvSpPr/>
          <p:nvPr/>
        </p:nvSpPr>
        <p:spPr>
          <a:xfrm>
            <a:off x="4480560" y="3390000"/>
            <a:ext cx="3383280" cy="390000"/>
          </a:xfrm>
          <a:prstGeom prst="rect">
            <a:avLst/>
          </a:prstGeom>
          <a:solidFill>
            <a:srgbClr val="FEE2E2"/>
          </a:solidFill>
          <a:ln w="9525">
            <a:solidFill>
              <a:srgbClr val="DC2626"/>
            </a:solidFill>
          </a:ln>
        </p:spPr>
      </p:sp>
      <p:sp>
        <p:nvSpPr>
          <p:cNvPr id="127" name="FtrTxt127"/>
          <p:cNvSpPr/>
          <p:nvPr/>
        </p:nvSpPr>
        <p:spPr>
          <a:xfrm>
            <a:off x="4480560" y="3390000"/>
            <a:ext cx="3383280" cy="39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Invoicing ✓  Manufacturing ✗</a:t>
            </a:r>
          </a:p>
        </p:txBody>
      </p:sp>
      <p:sp>
        <p:nvSpPr>
          <p:cNvPr id="128" name="CardBg128"/>
          <p:cNvSpPr/>
          <p:nvPr/>
        </p:nvSpPr>
        <p:spPr>
          <a:xfrm>
            <a:off x="8275320" y="1260000"/>
            <a:ext cx="3749040" cy="25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29" name="CardHdr129"/>
          <p:cNvSpPr/>
          <p:nvPr/>
        </p:nvSpPr>
        <p:spPr>
          <a:xfrm>
            <a:off x="8275320" y="1260000"/>
            <a:ext cx="3749040" cy="440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0" name="HdrTxt130"/>
          <p:cNvSpPr/>
          <p:nvPr/>
        </p:nvSpPr>
        <p:spPr>
          <a:xfrm>
            <a:off x="8275320" y="1260000"/>
            <a:ext cx="3749040" cy="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Excel + WhatsApp</a:t>
            </a:r>
          </a:p>
        </p:txBody>
      </p:sp>
      <p:sp>
        <p:nvSpPr>
          <p:cNvPr id="131" name="Tag131"/>
          <p:cNvSpPr/>
          <p:nvPr/>
        </p:nvSpPr>
        <p:spPr>
          <a:xfrm>
            <a:off x="8412480" y="1750000"/>
            <a:ext cx="3474720" cy="2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0" dirty="0">
                <a:solidFill>
                  <a:srgbClr val="475569"/>
                </a:solidFill>
              </a:rPr>
              <a:t>Free to start. Costly in the long run.</a:t>
            </a:r>
          </a:p>
        </p:txBody>
      </p:sp>
      <p:sp>
        <p:nvSpPr>
          <p:cNvPr id="132" name="Div132"/>
          <p:cNvSpPr/>
          <p:nvPr/>
        </p:nvSpPr>
        <p:spPr>
          <a:xfrm>
            <a:off x="8458200" y="2070000"/>
            <a:ext cx="3383280" cy="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</p:sp>
      <p:sp>
        <p:nvSpPr>
          <p:cNvPr id="133" name="Lbl133"/>
          <p:cNvSpPr/>
          <p:nvPr/>
        </p:nvSpPr>
        <p:spPr>
          <a:xfrm>
            <a:off x="8412480" y="2120000"/>
            <a:ext cx="3474720" cy="2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What it cannot do:</a:t>
            </a:r>
          </a:p>
        </p:txBody>
      </p:sp>
      <p:sp>
        <p:nvSpPr>
          <p:cNvPr id="134" name="Circ134"/>
          <p:cNvSpPr/>
          <p:nvPr/>
        </p:nvSpPr>
        <p:spPr>
          <a:xfrm>
            <a:off x="8458200" y="2480000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35" name="BulTxt135"/>
          <p:cNvSpPr/>
          <p:nvPr/>
        </p:nvSpPr>
        <p:spPr>
          <a:xfrm>
            <a:off x="8732520" y="2400000"/>
            <a:ext cx="315468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0" dirty="0">
                <a:solidFill>
                  <a:srgbClr val="1E293B"/>
                </a:solidFill>
              </a:rPr>
              <a:t>No audit trail — anyone can edit</a:t>
            </a:r>
          </a:p>
        </p:txBody>
      </p:sp>
      <p:sp>
        <p:nvSpPr>
          <p:cNvPr id="136" name="Circ136"/>
          <p:cNvSpPr/>
          <p:nvPr/>
        </p:nvSpPr>
        <p:spPr>
          <a:xfrm>
            <a:off x="8458200" y="2830000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37" name="BulTxt137"/>
          <p:cNvSpPr/>
          <p:nvPr/>
        </p:nvSpPr>
        <p:spPr>
          <a:xfrm>
            <a:off x="8732520" y="2750000"/>
            <a:ext cx="315468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0" dirty="0">
                <a:solidFill>
                  <a:srgbClr val="1E293B"/>
                </a:solidFill>
              </a:rPr>
              <a:t>No GST auto-calculation</a:t>
            </a:r>
          </a:p>
        </p:txBody>
      </p:sp>
      <p:sp>
        <p:nvSpPr>
          <p:cNvPr id="138" name="Circ138"/>
          <p:cNvSpPr/>
          <p:nvPr/>
        </p:nvSpPr>
        <p:spPr>
          <a:xfrm>
            <a:off x="8458200" y="3180000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39" name="BulTxt139"/>
          <p:cNvSpPr/>
          <p:nvPr/>
        </p:nvSpPr>
        <p:spPr>
          <a:xfrm>
            <a:off x="8732520" y="3100000"/>
            <a:ext cx="315468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0" dirty="0">
                <a:solidFill>
                  <a:srgbClr val="1E293B"/>
                </a:solidFill>
              </a:rPr>
              <a:t>Zero inventory visibility</a:t>
            </a:r>
          </a:p>
        </p:txBody>
      </p:sp>
      <p:sp>
        <p:nvSpPr>
          <p:cNvPr id="140" name="FtrBg140"/>
          <p:cNvSpPr/>
          <p:nvPr/>
        </p:nvSpPr>
        <p:spPr>
          <a:xfrm>
            <a:off x="8458200" y="3390000"/>
            <a:ext cx="3383280" cy="390000"/>
          </a:xfrm>
          <a:prstGeom prst="rect">
            <a:avLst/>
          </a:prstGeom>
          <a:solidFill>
            <a:srgbClr val="FEE2E2"/>
          </a:solidFill>
          <a:ln w="9525">
            <a:solidFill>
              <a:srgbClr val="DC2626"/>
            </a:solidFill>
          </a:ln>
        </p:spPr>
      </p:sp>
      <p:sp>
        <p:nvSpPr>
          <p:cNvPr id="141" name="FtrTxt141"/>
          <p:cNvSpPr/>
          <p:nvPr/>
        </p:nvSpPr>
        <p:spPr>
          <a:xfrm>
            <a:off x="8458200" y="3390000"/>
            <a:ext cx="3383280" cy="39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Free ✓  Reliable ✗</a:t>
            </a:r>
          </a:p>
        </p:txBody>
      </p:sp>
      <p:sp>
        <p:nvSpPr>
          <p:cNvPr id="142" name="CardBg142"/>
          <p:cNvSpPr/>
          <p:nvPr/>
        </p:nvSpPr>
        <p:spPr>
          <a:xfrm>
            <a:off x="320040" y="3860000"/>
            <a:ext cx="3749040" cy="25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43" name="CardHdr143"/>
          <p:cNvSpPr/>
          <p:nvPr/>
        </p:nvSpPr>
        <p:spPr>
          <a:xfrm>
            <a:off x="320040" y="3860000"/>
            <a:ext cx="3749040" cy="440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4" name="HdrTxt144"/>
          <p:cNvSpPr/>
          <p:nvPr/>
        </p:nvSpPr>
        <p:spPr>
          <a:xfrm>
            <a:off x="320040" y="3860000"/>
            <a:ext cx="3749040" cy="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SAP / Oracle</a:t>
            </a:r>
          </a:p>
        </p:txBody>
      </p:sp>
      <p:sp>
        <p:nvSpPr>
          <p:cNvPr id="145" name="Tag145"/>
          <p:cNvSpPr/>
          <p:nvPr/>
        </p:nvSpPr>
        <p:spPr>
          <a:xfrm>
            <a:off x="457200" y="4350000"/>
            <a:ext cx="3474720" cy="2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0" dirty="0">
                <a:solidFill>
                  <a:srgbClr val="475569"/>
                </a:solidFill>
              </a:rPr>
              <a:t>₹10L+ to set up. Not built for SMEs.</a:t>
            </a:r>
          </a:p>
        </p:txBody>
      </p:sp>
      <p:sp>
        <p:nvSpPr>
          <p:cNvPr id="146" name="Div146"/>
          <p:cNvSpPr/>
          <p:nvPr/>
        </p:nvSpPr>
        <p:spPr>
          <a:xfrm>
            <a:off x="502920" y="4670000"/>
            <a:ext cx="3383280" cy="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</p:sp>
      <p:sp>
        <p:nvSpPr>
          <p:cNvPr id="147" name="Lbl147"/>
          <p:cNvSpPr/>
          <p:nvPr/>
        </p:nvSpPr>
        <p:spPr>
          <a:xfrm>
            <a:off x="457200" y="4720000"/>
            <a:ext cx="3474720" cy="2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What it cannot do:</a:t>
            </a:r>
          </a:p>
        </p:txBody>
      </p:sp>
      <p:sp>
        <p:nvSpPr>
          <p:cNvPr id="148" name="Circ148"/>
          <p:cNvSpPr/>
          <p:nvPr/>
        </p:nvSpPr>
        <p:spPr>
          <a:xfrm>
            <a:off x="502920" y="5080000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49" name="BulTxt149"/>
          <p:cNvSpPr/>
          <p:nvPr/>
        </p:nvSpPr>
        <p:spPr>
          <a:xfrm>
            <a:off x="777240" y="5000000"/>
            <a:ext cx="315468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0" dirty="0">
                <a:solidFill>
                  <a:srgbClr val="1E293B"/>
                </a:solidFill>
              </a:rPr>
              <a:t>₹10L+ implementation — unaffordable</a:t>
            </a:r>
          </a:p>
        </p:txBody>
      </p:sp>
      <p:sp>
        <p:nvSpPr>
          <p:cNvPr id="150" name="Circ150"/>
          <p:cNvSpPr/>
          <p:nvPr/>
        </p:nvSpPr>
        <p:spPr>
          <a:xfrm>
            <a:off x="502920" y="5430000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51" name="BulTxt151"/>
          <p:cNvSpPr/>
          <p:nvPr/>
        </p:nvSpPr>
        <p:spPr>
          <a:xfrm>
            <a:off x="777240" y="5350000"/>
            <a:ext cx="315468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0" dirty="0">
                <a:solidFill>
                  <a:srgbClr val="1E293B"/>
                </a:solidFill>
              </a:rPr>
              <a:t>Needs 3–6 months IT setup time</a:t>
            </a:r>
          </a:p>
        </p:txBody>
      </p:sp>
      <p:sp>
        <p:nvSpPr>
          <p:cNvPr id="152" name="Circ152"/>
          <p:cNvSpPr/>
          <p:nvPr/>
        </p:nvSpPr>
        <p:spPr>
          <a:xfrm>
            <a:off x="502920" y="5780000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53" name="BulTxt153"/>
          <p:cNvSpPr/>
          <p:nvPr/>
        </p:nvSpPr>
        <p:spPr>
          <a:xfrm>
            <a:off x="777240" y="5700000"/>
            <a:ext cx="315468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0" dirty="0">
                <a:solidFill>
                  <a:srgbClr val="1E293B"/>
                </a:solidFill>
              </a:rPr>
              <a:t>No WhatsApp or mobile-first tools</a:t>
            </a:r>
          </a:p>
        </p:txBody>
      </p:sp>
      <p:sp>
        <p:nvSpPr>
          <p:cNvPr id="154" name="FtrBg154"/>
          <p:cNvSpPr/>
          <p:nvPr/>
        </p:nvSpPr>
        <p:spPr>
          <a:xfrm>
            <a:off x="502920" y="5990000"/>
            <a:ext cx="3383280" cy="390000"/>
          </a:xfrm>
          <a:prstGeom prst="rect">
            <a:avLst/>
          </a:prstGeom>
          <a:solidFill>
            <a:srgbClr val="FEE2E2"/>
          </a:solidFill>
          <a:ln w="9525">
            <a:solidFill>
              <a:srgbClr val="DC2626"/>
            </a:solidFill>
          </a:ln>
        </p:spPr>
      </p:sp>
      <p:sp>
        <p:nvSpPr>
          <p:cNvPr id="155" name="FtrTxt155"/>
          <p:cNvSpPr/>
          <p:nvPr/>
        </p:nvSpPr>
        <p:spPr>
          <a:xfrm>
            <a:off x="502920" y="5990000"/>
            <a:ext cx="3383280" cy="39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Powerful ✓  Affordable ✗</a:t>
            </a:r>
          </a:p>
        </p:txBody>
      </p:sp>
      <p:sp>
        <p:nvSpPr>
          <p:cNvPr id="156" name="CardBg156"/>
          <p:cNvSpPr/>
          <p:nvPr/>
        </p:nvSpPr>
        <p:spPr>
          <a:xfrm>
            <a:off x="4297680" y="3860000"/>
            <a:ext cx="3749040" cy="25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57" name="CardHdr157"/>
          <p:cNvSpPr/>
          <p:nvPr/>
        </p:nvSpPr>
        <p:spPr>
          <a:xfrm>
            <a:off x="4297680" y="3860000"/>
            <a:ext cx="3749040" cy="440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8" name="HdrTxt158"/>
          <p:cNvSpPr/>
          <p:nvPr/>
        </p:nvSpPr>
        <p:spPr>
          <a:xfrm>
            <a:off x="4297680" y="3860000"/>
            <a:ext cx="3749040" cy="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Odoo</a:t>
            </a:r>
          </a:p>
        </p:txBody>
      </p:sp>
      <p:sp>
        <p:nvSpPr>
          <p:cNvPr id="159" name="Tag159"/>
          <p:cNvSpPr/>
          <p:nvPr/>
        </p:nvSpPr>
        <p:spPr>
          <a:xfrm>
            <a:off x="4434840" y="4350000"/>
            <a:ext cx="3474720" cy="2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0" dirty="0">
                <a:solidFill>
                  <a:srgbClr val="475569"/>
                </a:solidFill>
              </a:rPr>
              <a:t>Open source. But you need a developer.</a:t>
            </a:r>
          </a:p>
        </p:txBody>
      </p:sp>
      <p:sp>
        <p:nvSpPr>
          <p:cNvPr id="160" name="Div160"/>
          <p:cNvSpPr/>
          <p:nvPr/>
        </p:nvSpPr>
        <p:spPr>
          <a:xfrm>
            <a:off x="4480560" y="4670000"/>
            <a:ext cx="3383280" cy="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</p:sp>
      <p:sp>
        <p:nvSpPr>
          <p:cNvPr id="161" name="Lbl161"/>
          <p:cNvSpPr/>
          <p:nvPr/>
        </p:nvSpPr>
        <p:spPr>
          <a:xfrm>
            <a:off x="4434840" y="4720000"/>
            <a:ext cx="3474720" cy="2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What it cannot do:</a:t>
            </a:r>
          </a:p>
        </p:txBody>
      </p:sp>
      <p:sp>
        <p:nvSpPr>
          <p:cNvPr id="162" name="Circ162"/>
          <p:cNvSpPr/>
          <p:nvPr/>
        </p:nvSpPr>
        <p:spPr>
          <a:xfrm>
            <a:off x="4480560" y="5080000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3" name="BulTxt163"/>
          <p:cNvSpPr/>
          <p:nvPr/>
        </p:nvSpPr>
        <p:spPr>
          <a:xfrm>
            <a:off x="4754880" y="5000000"/>
            <a:ext cx="315468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0" dirty="0">
                <a:solidFill>
                  <a:srgbClr val="1E293B"/>
                </a:solidFill>
              </a:rPr>
              <a:t>Needs IT team to configure &amp; maintain</a:t>
            </a:r>
          </a:p>
        </p:txBody>
      </p:sp>
      <p:sp>
        <p:nvSpPr>
          <p:cNvPr id="164" name="Circ164"/>
          <p:cNvSpPr/>
          <p:nvPr/>
        </p:nvSpPr>
        <p:spPr>
          <a:xfrm>
            <a:off x="4480560" y="5430000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5" name="BulTxt165"/>
          <p:cNvSpPr/>
          <p:nvPr/>
        </p:nvSpPr>
        <p:spPr>
          <a:xfrm>
            <a:off x="4754880" y="5350000"/>
            <a:ext cx="315468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0" dirty="0">
                <a:solidFill>
                  <a:srgbClr val="1E293B"/>
                </a:solidFill>
              </a:rPr>
              <a:t>No built-in WhatsApp operator tools</a:t>
            </a:r>
          </a:p>
        </p:txBody>
      </p:sp>
      <p:sp>
        <p:nvSpPr>
          <p:cNvPr id="166" name="Circ166"/>
          <p:cNvSpPr/>
          <p:nvPr/>
        </p:nvSpPr>
        <p:spPr>
          <a:xfrm>
            <a:off x="4480560" y="5780000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7" name="BulTxt167"/>
          <p:cNvSpPr/>
          <p:nvPr/>
        </p:nvSpPr>
        <p:spPr>
          <a:xfrm>
            <a:off x="4754880" y="5700000"/>
            <a:ext cx="315468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0" dirty="0">
                <a:solidFill>
                  <a:srgbClr val="1E293B"/>
                </a:solidFill>
              </a:rPr>
              <a:t>Indian GST needs expensive modules</a:t>
            </a:r>
          </a:p>
        </p:txBody>
      </p:sp>
      <p:sp>
        <p:nvSpPr>
          <p:cNvPr id="168" name="FtrBg168"/>
          <p:cNvSpPr/>
          <p:nvPr/>
        </p:nvSpPr>
        <p:spPr>
          <a:xfrm>
            <a:off x="4480560" y="5990000"/>
            <a:ext cx="3383280" cy="390000"/>
          </a:xfrm>
          <a:prstGeom prst="rect">
            <a:avLst/>
          </a:prstGeom>
          <a:solidFill>
            <a:srgbClr val="FEE2E2"/>
          </a:solidFill>
          <a:ln w="9525">
            <a:solidFill>
              <a:srgbClr val="DC2626"/>
            </a:solidFill>
          </a:ln>
        </p:spPr>
      </p:sp>
      <p:sp>
        <p:nvSpPr>
          <p:cNvPr id="169" name="FtrTxt169"/>
          <p:cNvSpPr/>
          <p:nvPr/>
        </p:nvSpPr>
        <p:spPr>
          <a:xfrm>
            <a:off x="4480560" y="5990000"/>
            <a:ext cx="3383280" cy="39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Flexible ✓  Ready out-of-box ✗</a:t>
            </a:r>
          </a:p>
        </p:txBody>
      </p:sp>
      <p:sp>
        <p:nvSpPr>
          <p:cNvPr id="170" name="CardBg170"/>
          <p:cNvSpPr/>
          <p:nvPr/>
        </p:nvSpPr>
        <p:spPr>
          <a:xfrm>
            <a:off x="8275320" y="3860000"/>
            <a:ext cx="3749040" cy="25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71" name="CardHdr171"/>
          <p:cNvSpPr/>
          <p:nvPr/>
        </p:nvSpPr>
        <p:spPr>
          <a:xfrm>
            <a:off x="8275320" y="3860000"/>
            <a:ext cx="3749040" cy="440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2" name="HdrTxt172"/>
          <p:cNvSpPr/>
          <p:nvPr/>
        </p:nvSpPr>
        <p:spPr>
          <a:xfrm>
            <a:off x="8275320" y="3860000"/>
            <a:ext cx="3749040" cy="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Vyapaar</a:t>
            </a:r>
          </a:p>
        </p:txBody>
      </p:sp>
      <p:sp>
        <p:nvSpPr>
          <p:cNvPr id="173" name="Tag173"/>
          <p:cNvSpPr/>
          <p:nvPr/>
        </p:nvSpPr>
        <p:spPr>
          <a:xfrm>
            <a:off x="8412480" y="4350000"/>
            <a:ext cx="3474720" cy="2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0" dirty="0">
                <a:solidFill>
                  <a:srgbClr val="475569"/>
                </a:solidFill>
              </a:rPr>
              <a:t>Simple invoicing app. Nothing more.</a:t>
            </a:r>
          </a:p>
        </p:txBody>
      </p:sp>
      <p:sp>
        <p:nvSpPr>
          <p:cNvPr id="174" name="Div174"/>
          <p:cNvSpPr/>
          <p:nvPr/>
        </p:nvSpPr>
        <p:spPr>
          <a:xfrm>
            <a:off x="8458200" y="4670000"/>
            <a:ext cx="3383280" cy="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</p:sp>
      <p:sp>
        <p:nvSpPr>
          <p:cNvPr id="175" name="Lbl175"/>
          <p:cNvSpPr/>
          <p:nvPr/>
        </p:nvSpPr>
        <p:spPr>
          <a:xfrm>
            <a:off x="8412480" y="4720000"/>
            <a:ext cx="3474720" cy="2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What it cannot do:</a:t>
            </a:r>
          </a:p>
        </p:txBody>
      </p:sp>
      <p:sp>
        <p:nvSpPr>
          <p:cNvPr id="176" name="Circ176"/>
          <p:cNvSpPr/>
          <p:nvPr/>
        </p:nvSpPr>
        <p:spPr>
          <a:xfrm>
            <a:off x="8458200" y="5080000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7" name="BulTxt177"/>
          <p:cNvSpPr/>
          <p:nvPr/>
        </p:nvSpPr>
        <p:spPr>
          <a:xfrm>
            <a:off x="8732520" y="5000000"/>
            <a:ext cx="315468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0" dirty="0">
                <a:solidFill>
                  <a:srgbClr val="1E293B"/>
                </a:solidFill>
              </a:rPr>
              <a:t>Invoicing only — no BOM or production</a:t>
            </a:r>
          </a:p>
        </p:txBody>
      </p:sp>
      <p:sp>
        <p:nvSpPr>
          <p:cNvPr id="178" name="Circ178"/>
          <p:cNvSpPr/>
          <p:nvPr/>
        </p:nvSpPr>
        <p:spPr>
          <a:xfrm>
            <a:off x="8458200" y="5430000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9" name="BulTxt179"/>
          <p:cNvSpPr/>
          <p:nvPr/>
        </p:nvSpPr>
        <p:spPr>
          <a:xfrm>
            <a:off x="8732520" y="5350000"/>
            <a:ext cx="315468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0" dirty="0">
                <a:solidFill>
                  <a:srgbClr val="1E293B"/>
                </a:solidFill>
              </a:rPr>
              <a:t>No inventory batch management</a:t>
            </a:r>
          </a:p>
        </p:txBody>
      </p:sp>
      <p:sp>
        <p:nvSpPr>
          <p:cNvPr id="180" name="Circ180"/>
          <p:cNvSpPr/>
          <p:nvPr/>
        </p:nvSpPr>
        <p:spPr>
          <a:xfrm>
            <a:off x="8458200" y="5780000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81" name="BulTxt181"/>
          <p:cNvSpPr/>
          <p:nvPr/>
        </p:nvSpPr>
        <p:spPr>
          <a:xfrm>
            <a:off x="8732520" y="5700000"/>
            <a:ext cx="315468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0" dirty="0">
                <a:solidFill>
                  <a:srgbClr val="1E293B"/>
                </a:solidFill>
              </a:rPr>
              <a:t>No accounting or shop-floor tools</a:t>
            </a:r>
          </a:p>
        </p:txBody>
      </p:sp>
      <p:sp>
        <p:nvSpPr>
          <p:cNvPr id="182" name="FtrBg182"/>
          <p:cNvSpPr/>
          <p:nvPr/>
        </p:nvSpPr>
        <p:spPr>
          <a:xfrm>
            <a:off x="8458200" y="5990000"/>
            <a:ext cx="3383280" cy="390000"/>
          </a:xfrm>
          <a:prstGeom prst="rect">
            <a:avLst/>
          </a:prstGeom>
          <a:solidFill>
            <a:srgbClr val="FEE2E2"/>
          </a:solidFill>
          <a:ln w="9525">
            <a:solidFill>
              <a:srgbClr val="DC2626"/>
            </a:solidFill>
          </a:ln>
        </p:spPr>
      </p:sp>
      <p:sp>
        <p:nvSpPr>
          <p:cNvPr id="183" name="FtrTxt183"/>
          <p:cNvSpPr/>
          <p:nvPr/>
        </p:nvSpPr>
        <p:spPr>
          <a:xfrm>
            <a:off x="8458200" y="5990000"/>
            <a:ext cx="3383280" cy="39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Simple ✓  Manufacturing 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Competitive Landscape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9 / 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" y="822960"/>
            <a:ext cx="2011680" cy="41148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8229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Platform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822960"/>
            <a:ext cx="1371600" cy="41148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822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66160" y="822960"/>
            <a:ext cx="1463040" cy="41148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8229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Invoicing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0" y="822960"/>
            <a:ext cx="1737360" cy="41148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8229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Production/BOM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822960"/>
            <a:ext cx="1737360" cy="41148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8229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WhatsApp Ops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503920" y="822960"/>
            <a:ext cx="1463040" cy="41148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8229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Accounting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966960" y="822960"/>
            <a:ext cx="1463040" cy="41148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20" name="Text 18"/>
          <p:cNvSpPr/>
          <p:nvPr/>
        </p:nvSpPr>
        <p:spPr>
          <a:xfrm>
            <a:off x="9966960" y="8229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 SMEs?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" y="1261872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1261872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Tally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94560" y="1261872"/>
            <a:ext cx="1371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1261872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~₹1,500/mo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566160" y="1261872"/>
            <a:ext cx="14630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1261872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0" y="1261872"/>
            <a:ext cx="1737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1261872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</a:rPr>
              <a:t>✗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766560" y="1261872"/>
            <a:ext cx="1737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1261872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</a:rPr>
              <a:t>✗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503920" y="1261872"/>
            <a:ext cx="14630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0" y="1261872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966960" y="1261872"/>
            <a:ext cx="14630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66960" y="1261872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Partial — accounting only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2880" y="2066544"/>
            <a:ext cx="201168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2066544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Zoho Books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194560" y="2066544"/>
            <a:ext cx="137160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94560" y="2066544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₹1,499/mo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566160" y="2066544"/>
            <a:ext cx="146304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160" y="2066544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029200" y="2066544"/>
            <a:ext cx="173736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2066544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</a:rPr>
              <a:t>✗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766560" y="2066544"/>
            <a:ext cx="173736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66560" y="2066544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</a:rPr>
              <a:t>✗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503920" y="2066544"/>
            <a:ext cx="146304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03920" y="2066544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966960" y="2066544"/>
            <a:ext cx="146304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966960" y="2066544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No manufacturing module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82880" y="2871216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2880" y="2871216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SAP / Oracle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194560" y="2871216"/>
            <a:ext cx="1371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94560" y="2871216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₹10L+ setup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3566160" y="2871216"/>
            <a:ext cx="14630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66160" y="2871216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5029200" y="2871216"/>
            <a:ext cx="1737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0" y="2871216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6766560" y="2871216"/>
            <a:ext cx="1737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66560" y="2871216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</a:rPr>
              <a:t>✗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8503920" y="2871216"/>
            <a:ext cx="14630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03920" y="2871216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9966960" y="2871216"/>
            <a:ext cx="14630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966960" y="2871216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✗ Too expensive for SMEs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82880" y="3675888"/>
            <a:ext cx="201168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2880" y="3675888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Odoo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194560" y="3675888"/>
            <a:ext cx="137160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94560" y="3675888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₹3,000+/mo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3566160" y="3675888"/>
            <a:ext cx="146304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566160" y="3675888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5029200" y="3675888"/>
            <a:ext cx="173736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29200" y="3675888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6766560" y="3675888"/>
            <a:ext cx="173736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766560" y="3675888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</a:rPr>
              <a:t>✗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8503920" y="3675888"/>
            <a:ext cx="146304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503920" y="3675888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9966960" y="3675888"/>
            <a:ext cx="146304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966960" y="3675888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Needs IT team to set up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182880" y="4480560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82880" y="4480560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Vyapaar/Marg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194560" y="4480560"/>
            <a:ext cx="1371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194560" y="4480560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₹500/mo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3566160" y="4480560"/>
            <a:ext cx="14630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566160" y="4480560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5029200" y="4480560"/>
            <a:ext cx="1737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029200" y="4480560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</a:rPr>
              <a:t>✗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6766560" y="4480560"/>
            <a:ext cx="1737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766560" y="4480560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</a:rPr>
              <a:t>✗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8503920" y="4480560"/>
            <a:ext cx="14630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503920" y="4480560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Basic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9966960" y="4480560"/>
            <a:ext cx="14630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966960" y="4480560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Basic invoicing only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182880" y="5285232"/>
            <a:ext cx="2011680" cy="749808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82880" y="5285232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KINTO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2194560" y="5285232"/>
            <a:ext cx="1371600" cy="749808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194560" y="5285232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₹999/mo</a:t>
            </a:r>
            <a:endParaRPr lang="en-US" sz="1400" dirty="0"/>
          </a:p>
        </p:txBody>
      </p:sp>
      <p:sp>
        <p:nvSpPr>
          <p:cNvPr id="95" name="Shape 93"/>
          <p:cNvSpPr/>
          <p:nvPr/>
        </p:nvSpPr>
        <p:spPr>
          <a:xfrm>
            <a:off x="3566160" y="5285232"/>
            <a:ext cx="1463040" cy="749808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566160" y="5285232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97" name="Shape 95"/>
          <p:cNvSpPr/>
          <p:nvPr/>
        </p:nvSpPr>
        <p:spPr>
          <a:xfrm>
            <a:off x="5029200" y="5285232"/>
            <a:ext cx="1737360" cy="749808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029200" y="5285232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99" name="Shape 97"/>
          <p:cNvSpPr/>
          <p:nvPr/>
        </p:nvSpPr>
        <p:spPr>
          <a:xfrm>
            <a:off x="6766560" y="5285232"/>
            <a:ext cx="1737360" cy="749808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766560" y="5285232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101" name="Shape 99"/>
          <p:cNvSpPr/>
          <p:nvPr/>
        </p:nvSpPr>
        <p:spPr>
          <a:xfrm>
            <a:off x="8503920" y="5285232"/>
            <a:ext cx="1463040" cy="749808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503920" y="5285232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103" name="Shape 101"/>
          <p:cNvSpPr/>
          <p:nvPr/>
        </p:nvSpPr>
        <p:spPr>
          <a:xfrm>
            <a:off x="9966960" y="5285232"/>
            <a:ext cx="1463040" cy="749808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966960" y="5285232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 Built for Indian SMEs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182880" y="6144768"/>
            <a:ext cx="11978640" cy="347472"/>
          </a:xfrm>
          <a:prstGeom prst="roundRect">
            <a:avLst>
              <a:gd name="adj" fmla="val 2631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82880" y="6144768"/>
            <a:ext cx="1197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Kinto is the only platform that combines operations + quality + WhatsApp + full accounting at SME-friendly pricing.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</a:rPr>
              <a:t>FEATURE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GST-Compliant Invoicing — Done in Under 2 Minutes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kintoops.com  |  14-Day Free Trial — No Credit Card Needed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5303520" cy="5074920"/>
          </a:xfrm>
          <a:prstGeom prst="roundRect">
            <a:avLst>
              <a:gd name="adj" fmla="val 1802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716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Before Kinto (Tally + Excel)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157984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0574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Tally entry + manual GST calculation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816352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71576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Separate Excel for customer tracking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37413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Invoice errors found at GST filing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3308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03250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No UPI QR — payment follow-up calls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7914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69087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Credit notes done manually, often missed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3492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No visibility on which invoices are overdue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0" y="1371600"/>
            <a:ext cx="5925312" cy="5074920"/>
          </a:xfrm>
          <a:prstGeom prst="roundRect">
            <a:avLst>
              <a:gd name="adj" fmla="val 1802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1371600"/>
            <a:ext cx="5925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With Kinto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2157984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20574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Invoice created in under 2 minutes — all GST auto-calculated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2816352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271576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Customer ledger updated automatically in real time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347472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337413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GST reports auto-generated — ready for filing anytime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413308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403250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UPI QR code on every invoice — customers pay faster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47914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469087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Credit note in one click — linked to original invoice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5449824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53492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Pending payment dashboard — overdue visible at a glance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32120" y="36576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</a:rPr>
              <a:t>FEATURE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Operators Use WhatsApp — So Does Kinto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kintoops.com  |  14-Day Free Trial — No Credit Card Needed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BEAFE"/>
                </a:solidFill>
              </a:rPr>
              <a:t>No new app. No training. Operators already know WhatsApp.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11548872" cy="777240"/>
          </a:xfrm>
          <a:prstGeom prst="roundRect">
            <a:avLst>
              <a:gd name="adj" fmla="val 9412"/>
            </a:avLst>
          </a:prstGeom>
          <a:solidFill>
            <a:srgbClr val="0F2346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0756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19933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Morning reminder sent automatically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340864"/>
            <a:ext cx="10607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Kinto sends a WhatsApp message to the operator at shift start — "Machine XYZ startup checklist ready"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816352"/>
            <a:ext cx="11548872" cy="777240"/>
          </a:xfrm>
          <a:prstGeom prst="roundRect">
            <a:avLst>
              <a:gd name="adj" fmla="val 9412"/>
            </a:avLst>
          </a:prstGeom>
          <a:solidFill>
            <a:srgbClr val="0F234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971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88950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Operator replies on WhatsApp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236976"/>
            <a:ext cx="10607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Answers each question by typing or quick-reply. No app download. No training needed.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712464"/>
            <a:ext cx="11548872" cy="777240"/>
          </a:xfrm>
          <a:prstGeom prst="roundRect">
            <a:avLst>
              <a:gd name="adj" fmla="val 9412"/>
            </a:avLst>
          </a:prstGeom>
          <a:solidFill>
            <a:srgbClr val="0F234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8679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7856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Photo upload for any issue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4133088"/>
            <a:ext cx="10607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Operator sends a photo directly in WhatsApp — saved securely and linked to the checklist.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608576"/>
            <a:ext cx="11548872" cy="777240"/>
          </a:xfrm>
          <a:prstGeom prst="roundRect">
            <a:avLst>
              <a:gd name="adj" fmla="val 9412"/>
            </a:avLst>
          </a:prstGeom>
          <a:solidFill>
            <a:srgbClr val="0F2346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76402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764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46817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Supervisor notified of failures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5029200"/>
            <a:ext cx="10607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Any failed check triggers instant alert. Nothing slips. No paper signature needed.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5504688"/>
            <a:ext cx="11548872" cy="777240"/>
          </a:xfrm>
          <a:prstGeom prst="roundRect">
            <a:avLst>
              <a:gd name="adj" fmla="val 9412"/>
            </a:avLst>
          </a:prstGeom>
          <a:solidFill>
            <a:srgbClr val="0F2346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56601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5660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51560" y="5577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Full audit trail in the system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51560" y="5925312"/>
            <a:ext cx="10607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All responses timestamped, stored, searchable. Proof of compliance for every shift, every day.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6400800"/>
            <a:ext cx="11548872" cy="347472"/>
          </a:xfrm>
          <a:prstGeom prst="roundRect">
            <a:avLst>
              <a:gd name="adj" fmla="val 21053"/>
            </a:avLst>
          </a:prstGeom>
          <a:solidFill>
            <a:srgbClr val="00000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6400800"/>
            <a:ext cx="1154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B5FD"/>
                </a:solidFill>
              </a:rPr>
              <a:t>Result: Zero missed checklists. Full compliance record. No paper. No WhatsApp screenshot confusion.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A580C"/>
                </a:solidFill>
              </a:rPr>
              <a:t>FEATURE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Tracking That Actually Works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kintoops.com  |  14-Day Free Trial — No Credit Card Needed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57150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417320"/>
            <a:ext cx="5715000" cy="502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90472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Bill of Materials (BOM)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039112"/>
            <a:ext cx="5440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Define exactly what goes into each product. Kinto auto-calculates what raw material to issue — no guesswork, no over-issuance.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417320"/>
            <a:ext cx="57150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417320"/>
            <a:ext cx="571500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490472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FIFO Batch Allocation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2039112"/>
            <a:ext cx="5440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Oldest stock used first — automatically. No manual tracking. Correct batch consumed every time.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749040"/>
            <a:ext cx="57150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749040"/>
            <a:ext cx="571500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822192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Variance 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370832"/>
            <a:ext cx="5440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Planned vs actual material consumption compared automatically. Catch waste before it becomes a loss.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749040"/>
            <a:ext cx="57150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3749040"/>
            <a:ext cx="571500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822192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Finished Goods Control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4370832"/>
            <a:ext cx="5440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Quality approval before goods enter sellable stock. Scrap recorded with reason and evidence. Full traceability.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6199632"/>
            <a:ext cx="11548872" cy="384048"/>
          </a:xfrm>
          <a:prstGeom prst="roundRect">
            <a:avLst>
              <a:gd name="adj" fmla="val 19048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6199632"/>
            <a:ext cx="11548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</a:rPr>
              <a:t>Tally, Zoho, Excel — none of them have this. This is what makes Kinto different for manufacturers.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59669"/>
                </a:solidFill>
              </a:rPr>
              <a:t>THE ROI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your factory after you switch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kintoops.com  |  14-Day Free Trial — No Credit Card Needed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0F234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544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</a:rPr>
              <a:t>2–4 hrs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saved daily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3474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No manual data entry across multiple tools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41732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0F2346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15544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</a:rPr>
              <a:t>100%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434840" y="2240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GST accuracy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34840" y="2651760"/>
            <a:ext cx="3474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Auto-calculated, auto-reported — no filing errors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75320" y="141732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0F2346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15544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580C"/>
                </a:solidFill>
              </a:rPr>
              <a:t>Zero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412480" y="2240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paper records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2651760"/>
            <a:ext cx="3474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Everything digital, searchable, auditable from anywhere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79476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0F234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319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</a:rPr>
              <a:t>Instant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57200" y="4617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visibility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5029200"/>
            <a:ext cx="3474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Production, inventory, payments — live on your phone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379476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0F2346"/>
          </a:solidFill>
          <a:ln/>
        </p:spPr>
      </p:sp>
      <p:sp>
        <p:nvSpPr>
          <p:cNvPr id="25" name="Text 23"/>
          <p:cNvSpPr/>
          <p:nvPr/>
        </p:nvSpPr>
        <p:spPr>
          <a:xfrm>
            <a:off x="4434840" y="39319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</a:rPr>
              <a:t>30–50%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434840" y="4617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less material waste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34840" y="5029200"/>
            <a:ext cx="3474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BOM tracking catches over-issuance every day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75320" y="379476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0F2346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0" y="39319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</a:rPr>
              <a:t>Faster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8412480" y="4617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customer payments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12480" y="5029200"/>
            <a:ext cx="3474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UPI QR + payment dashboard = fewer follow-up calls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</a:rPr>
              <a:t>GETTING STARTED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be up and running in 3 days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kintoops.com  |  14-Day Free Trial — No Credit Card Needed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3749040" cy="42062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118872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22402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Day 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Setup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We configure your company, GST details, product masters and user roles — done in 2 hours.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1417320"/>
            <a:ext cx="3749040" cy="42062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118872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571500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434840" y="22402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</a:rPr>
              <a:t>Day 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</a:rPr>
              <a:t>Import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26280" y="301752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Your existing customers, vendors and opening balances imported. We handle the data migration for you.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75320" y="1417320"/>
            <a:ext cx="3749040" cy="42062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92640" y="118872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969264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12480" y="22402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580C"/>
                </a:solidFill>
              </a:rPr>
              <a:t>Day 3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A580C"/>
                </a:solidFill>
              </a:rPr>
              <a:t>Go Live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03920" y="301752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Your team trained. First invoice raised. WhatsApp checklist active. You're live and running.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5806440"/>
            <a:ext cx="11548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</a:rPr>
              <a:t>No IT team needed. No server setup. Works on any phone or laptop browser — right now.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6236208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623620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  Free data migration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91840" y="6236208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623620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  Free onboarding call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6236208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623620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  Free 14-day trial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235440" y="6236208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35440" y="623620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  Cancel anytime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100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3C6E"/>
                </a:solidFill>
              </a:rPr>
              <a:t>PRICING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310000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 pricing — no surprises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kintoops.com  |  14-Day Free Trial — No Credit Card Needed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3749040" cy="5833872"/>
          </a:xfrm>
          <a:prstGeom prst="roundRect">
            <a:avLst>
              <a:gd name="adj" fmla="val 292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9601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1572768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93B"/>
                </a:solidFill>
              </a:rPr>
              <a:t>₹999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20040" y="23408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/month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26334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Up to 3 users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2999232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272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Invoicing &amp; GST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5844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Purchase Orders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Accounting &amp; Ledger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4988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Expense Tracking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9560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Standard Reports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4132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Email Support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868680"/>
            <a:ext cx="3749040" cy="5833872"/>
          </a:xfrm>
          <a:prstGeom prst="roundRect">
            <a:avLst>
              <a:gd name="adj" fmla="val 2927"/>
            </a:avLst>
          </a:prstGeom>
          <a:solidFill>
            <a:srgbClr val="2563EB"/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566928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5669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★  MOST POPULAR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0" y="9601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Professional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297680" y="1572768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7706"/>
                </a:solidFill>
              </a:rPr>
              <a:t>₹2,499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4297680" y="23408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/month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97680" y="26334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Up to 10 users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2999232"/>
            <a:ext cx="3200400" cy="0"/>
          </a:xfrm>
          <a:prstGeom prst="line">
            <a:avLst/>
          </a:prstGeom>
          <a:noFill/>
          <a:ln w="12700">
            <a:solidFill>
              <a:srgbClr val="4B83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31272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Everything in Starter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26280" y="35844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BOM &amp; Production Tracking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26280" y="40416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WhatsApp Checklists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26280" y="44988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Document Management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26280" y="49560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MIS Analytics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26280" y="54132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Email + Phone Support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75320" y="868680"/>
            <a:ext cx="3749040" cy="5833872"/>
          </a:xfrm>
          <a:prstGeom prst="roundRect">
            <a:avLst>
              <a:gd name="adj" fmla="val 2927"/>
            </a:avLst>
          </a:prstGeom>
          <a:solidFill>
            <a:srgbClr val="1A3C6E"/>
          </a:solidFill>
          <a:ln/>
        </p:spPr>
      </p:sp>
      <p:sp>
        <p:nvSpPr>
          <p:cNvPr id="35" name="Text 33"/>
          <p:cNvSpPr/>
          <p:nvPr/>
        </p:nvSpPr>
        <p:spPr>
          <a:xfrm>
            <a:off x="8275320" y="9601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Enterprise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75320" y="1572768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Custom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8275320" y="23408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pricing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75320" y="26334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Unlimited users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549640" y="2999232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03920" y="31272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Everything in Professional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503920" y="35844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Unlimited storage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503920" y="40416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REST API access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503920" y="44988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Custom reports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503920" y="49560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Dedicated account manager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503920" y="54132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SLA guarantee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0040" y="6400800"/>
            <a:ext cx="11548872" cy="384048"/>
          </a:xfrm>
          <a:prstGeom prst="roundRect">
            <a:avLst>
              <a:gd name="adj" fmla="val 19048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6400800"/>
            <a:ext cx="11548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Tally: ₹18,000/yr (accounting only)  ·  Zoho Books: ₹1,499/mo (no manufacturing)  ·  Kinto: from ₹999/mo (full operations + accounts)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0F234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Traction &amp; Proof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7 / 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BEAFE"/>
                </a:solidFill>
              </a:rPr>
              <a:t>We built it for ourselves first. It's proven — not theoretical.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0F2346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4630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435608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Running Live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01168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Fully operational at KINTO manufacturing unit in real production use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32588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0F2346"/>
          </a:solidFill>
          <a:ln/>
        </p:spPr>
      </p:sp>
      <p:sp>
        <p:nvSpPr>
          <p:cNvPr id="13" name="Shape 11"/>
          <p:cNvSpPr/>
          <p:nvPr/>
        </p:nvSpPr>
        <p:spPr>
          <a:xfrm>
            <a:off x="6446520" y="14630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1435608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 Transactions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201168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Handles invoicing, BOM-driven production, accounting and dispatch daily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0F2346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3108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081528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WhatsApp Active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65760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Operators complete machine checklists via WhatsApp — no smartphone app needed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297180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0F2346"/>
          </a:solidFill>
          <a:ln/>
        </p:spPr>
      </p:sp>
      <p:sp>
        <p:nvSpPr>
          <p:cNvPr id="21" name="Shape 19"/>
          <p:cNvSpPr/>
          <p:nvPr/>
        </p:nvSpPr>
        <p:spPr>
          <a:xfrm>
            <a:off x="6446520" y="3108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3081528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Zero Paper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365760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All records — production, quality, dispatch — digital since go-live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61772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0F2346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47548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4727448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Complete ERP Stack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530352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200+ API routes: invoicing, inventory, accounting, MIS, reports all connected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461772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0F2346"/>
          </a:solidFill>
          <a:ln/>
        </p:spPr>
      </p:sp>
      <p:sp>
        <p:nvSpPr>
          <p:cNvPr id="29" name="Shape 27"/>
          <p:cNvSpPr/>
          <p:nvPr/>
        </p:nvSpPr>
        <p:spPr>
          <a:xfrm>
            <a:off x="6446520" y="47548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7040880" y="4727448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GST Compliant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46520" y="530352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GST invoices, credit notes, debit notes, journal entries — all auto-generated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2" cy="6858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transform your factory operations?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BEAFE"/>
                </a:solidFill>
              </a:rPr>
              <a:t>Join manufacturing companies already running smarter on Kinto Smart Ops.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2011680"/>
            <a:ext cx="10972800" cy="658368"/>
          </a:xfrm>
          <a:prstGeom prst="roundRect">
            <a:avLst>
              <a:gd name="adj" fmla="val 11111"/>
            </a:avLst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11680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</a:rPr>
              <a:t>Already using Tally? Zoho? Excel?  →  We migrate your data for free. You keep your history. Nothing is lost.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83464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0F2346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834640"/>
            <a:ext cx="3566160" cy="566928"/>
          </a:xfrm>
          <a:prstGeom prst="round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3464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Start Free Trial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3520440"/>
            <a:ext cx="3200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14-day full access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No credit card needed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Start in 5 minutes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5074920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074920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kintoops.com/trial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283464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0F2346"/>
          </a:solidFill>
          <a:ln/>
        </p:spPr>
      </p:sp>
      <p:sp>
        <p:nvSpPr>
          <p:cNvPr id="16" name="Shape 14"/>
          <p:cNvSpPr/>
          <p:nvPr/>
        </p:nvSpPr>
        <p:spPr>
          <a:xfrm>
            <a:off x="4617720" y="2834640"/>
            <a:ext cx="3566160" cy="566928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283464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Book a Live Demo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00600" y="3520440"/>
            <a:ext cx="3200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See every feature live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Your questions answered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30-minute session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92040" y="5074920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5074920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kintoops.com/demo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58200" y="283464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0F2346"/>
          </a:solidFill>
          <a:ln/>
        </p:spPr>
      </p:sp>
      <p:sp>
        <p:nvSpPr>
          <p:cNvPr id="22" name="Shape 20"/>
          <p:cNvSpPr/>
          <p:nvPr/>
        </p:nvSpPr>
        <p:spPr>
          <a:xfrm>
            <a:off x="8458200" y="2834640"/>
            <a:ext cx="3566160" cy="566928"/>
          </a:xfrm>
          <a:prstGeom prst="round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8458200" y="283464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Talk to Us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41080" y="3520440"/>
            <a:ext cx="3200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Call / WhatsApp 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We'll help you decide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if Kinto is right for you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732520" y="5074920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8732520" y="5074920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+91 XXXXX XXXXX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" y="576072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0F2346"/>
          </a:solidFill>
          <a:ln w="12700">
            <a:solidFill>
              <a:srgbClr val="4B83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76072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BEAFE"/>
                </a:solidFill>
              </a:rPr>
              <a:t>GST Compliant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63240" y="576072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0F2346"/>
          </a:solidFill>
          <a:ln w="12700">
            <a:solidFill>
              <a:srgbClr val="4B83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63240" y="576072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BEAFE"/>
                </a:solidFill>
              </a:rPr>
              <a:t>WhatsApp Ready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49240" y="576072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0F2346"/>
          </a:solidFill>
          <a:ln w="12700">
            <a:solidFill>
              <a:srgbClr val="4B83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576072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BEAFE"/>
                </a:solidFill>
              </a:rPr>
              <a:t>No IT Team Needed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635240" y="576072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0F2346"/>
          </a:solidFill>
          <a:ln w="12700">
            <a:solidFill>
              <a:srgbClr val="4B83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35240" y="576072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BEAFE"/>
                </a:solidFill>
              </a:rPr>
              <a:t>Free Data Migration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921240" y="576072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0F2346"/>
          </a:solidFill>
          <a:ln w="12700">
            <a:solidFill>
              <a:srgbClr val="4B83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21240" y="576072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BEAFE"/>
                </a:solidFill>
              </a:rPr>
              <a:t>Made for Indian Manufacturers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" y="62910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kintoops.com  |  "Stop running your factory on WhatsApp and Excel."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2026-04-07T06:43:19Z</dcterms:created>
  <dcterms:modified xsi:type="dcterms:W3CDTF">2026-04-07T06:43:19Z</dcterms:modified>
</cp:coreProperties>
</file>