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Indian Manufacturing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Invoicing · Production · Quality · Accounting · WhatsApp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F234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5989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April 2026  |  Confidential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5989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BEAFE"/>
                </a:solidFill>
              </a:rPr>
              <a:t>kintoops.com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0" y="128016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12801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SAAS · MULTITENANT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Built for Indian MSMEs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 /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How Indian manufacturers run their factories today: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114300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25880"/>
            <a:ext cx="109728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Production tracked on paper registers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70992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 real-time visibility for management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0" y="1435608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143560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UNRESOLVED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14300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40280"/>
            <a:ext cx="109728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286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Operations managed via WhatsApp groups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62432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 record, no accountability, no audit trail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0" y="2350008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E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235000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UNRESOLVED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114300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54680"/>
            <a:ext cx="109728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00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Inventory in Excel spreadsheets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53872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Version mismatch, human errors, material goes missing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0" y="3264408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EE2E2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326440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UNRESOLVED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114300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69080"/>
            <a:ext cx="109728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114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GST invoicing in Tally — operations elsewhere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445312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Two disconnected systems, reconciliation nightmares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800" y="4178808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EE2E2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0" y="417880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UNRESOLVED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983480"/>
            <a:ext cx="114300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983480"/>
            <a:ext cx="109728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5029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Quality issues discovered after dispatch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536752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Costly returns, customer complaints, no checklist discipline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86800" y="5093208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EE2E2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0" y="509320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UNRESOLVED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 /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Kinto Smart Ops — One platform. Everything connected.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71600"/>
            <a:ext cx="374904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44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Invoicing &amp; GST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E-invoice, GST reports, credit notes, UPI QR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3716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371600"/>
            <a:ext cx="374904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444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Production &amp; BOM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19659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Bill of Materials, batch tracking, variance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3716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371600"/>
            <a:ext cx="374904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444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Inventory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19659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FIFO batches, raw material, finished goods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57600"/>
            <a:ext cx="374904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30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 Integration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2519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Operator checklists via WhatsApp — no app needed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6576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3657600"/>
            <a:ext cx="3749040" cy="50292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3730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 Analytics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42519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Executive KPIs, production &amp; sales dashboards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0" y="36576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3657600"/>
            <a:ext cx="374904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3730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Double-Entry Accounting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58200" y="42519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Full ledger, P&amp;L, Balance Sheet, Trial Balance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F234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Already Built. Running Live.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 /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</a:rPr>
              <a:t>Not a concept. Not a prototype. Live in production at a real manufacturing factory.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2588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08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GST-Compliant Invoicing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E-invoice, UPI QR, credit notes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46304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4630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32588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508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BOM-Driven Production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011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Material issuance, batch tracking, variance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0" y="146304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0" y="14630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297180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154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 Checklists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6576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Operators complete tasks via WhatsApp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10896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1089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29718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9360" y="297180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154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Inventory Management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36576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FIFO allocation, scrap tracking, returns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972800" y="310896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0" y="31089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6177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461772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800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Double-Entry Accounting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53035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 journal entries for every transaction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475488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47548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46177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461772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4800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 Executive Dashboard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37960" y="53035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KPIs, analytics, production insights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972800" y="4754880"/>
            <a:ext cx="82296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10972800" y="47548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Market Opportunity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5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1A3C6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63 Million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MSMEs in India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(Ministry of MSME)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9144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051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3.5 Million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343400" y="19202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Manufacturing MSMEs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our target segment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9144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051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&lt; 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21040" y="19202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Currently use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dedicated ERP software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The Gap — and the Opportunity: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201168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2044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Tally handles accounting only — operations run on paper and WhatsApp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201168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06908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SAP / Oracle: ₹10L+ implementation cost — completely unaffordable for SMEs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201168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61772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Zoho / Vyapaar: Basic invoicing — no production, no BOM, no quality management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5212080"/>
            <a:ext cx="201168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16636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Kinto fills the gap: Full operations + accounting at ₹999–₹2,499/month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5760720"/>
            <a:ext cx="201168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71500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Target cities: Coimbatore, Pune, Ludhiana, Rajkot, Ahmedabad, Faridabad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6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3749040" cy="54864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Starter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₹999/mo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per month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46888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060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3 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5 GB storage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Invoicing &amp; GST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Accounting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Email support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868680"/>
            <a:ext cx="3749040" cy="5486400"/>
          </a:xfrm>
          <a:prstGeom prst="roundRect">
            <a:avLst>
              <a:gd name="adj" fmla="val 2439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Professional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1508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</a:rPr>
              <a:t>₹2,499/mo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29768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per month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468880"/>
            <a:ext cx="3200400" cy="0"/>
          </a:xfrm>
          <a:prstGeom prst="line">
            <a:avLst/>
          </a:prstGeom>
          <a:noFill/>
          <a:ln w="12700">
            <a:solidFill>
              <a:srgbClr val="4B8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6060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10 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1089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25 GB storage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36118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All Starter features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41148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BOM &amp; Production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46177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WhatsApp Integration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51206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Document Management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566928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EA580C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5669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MOST POPULAR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75320" y="868680"/>
            <a:ext cx="3749040" cy="5486400"/>
          </a:xfrm>
          <a:prstGeom prst="roundRect">
            <a:avLst>
              <a:gd name="adj" fmla="val 2439"/>
            </a:avLst>
          </a:prstGeom>
          <a:solidFill>
            <a:srgbClr val="1A3C6E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75320" y="1508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</a:rPr>
              <a:t>Custom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27532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49640" y="2468880"/>
            <a:ext cx="3200400" cy="0"/>
          </a:xfrm>
          <a:prstGeom prst="line">
            <a:avLst/>
          </a:prstGeom>
          <a:noFill/>
          <a:ln w="12700">
            <a:solidFill>
              <a:srgbClr val="4B83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26060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Unlimited users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31089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Unlimited storage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03920" y="36118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All Pro features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03920" y="41148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MIS Analytics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0" y="46177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REST API access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51206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Dedicated support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6446520"/>
            <a:ext cx="11521440" cy="347472"/>
          </a:xfrm>
          <a:prstGeom prst="roundRect">
            <a:avLst>
              <a:gd name="adj" fmla="val 2631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644652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14-day free trial on all plans  ·  No credit card required  ·  2 months free on annual plan  ·  Cancel anytime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F234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Traction &amp; Proof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 /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BEAFE"/>
                </a:solidFill>
              </a:rPr>
              <a:t>We built it for ourselves first. It's proven — not theoretical.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46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43560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Running Live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Fully operational at KINTO manufacturing unit in real production use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146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43560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Transactions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Handles invoicing, BOM-driven production, accounting and dispatch daily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08152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 Active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Operators complete machine checklists via WhatsApp — no smartphone app needed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9718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08152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 Paper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6576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All records — production, quality, dispatch — digital since go-live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4754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72744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Complete ERP Stack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53035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200+ API routes: invoicing, inventory, accounting, MIS, reports all connected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46177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F2346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4754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472744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GST Compliant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53035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GST invoices, credit notes, debit notes, journal entries — all auto-generated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Now?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8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941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GST E-Invoicing Mandate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32588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Expanding to businesses below ₹5 crore turnover. Compliance pressure is forcing manufacturers to go digital.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11430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75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1947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WhatsApp Business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Now accessible to Indian SMEs. Real-time operator communication via WhatsApp is finally feasible at low cost.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11430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81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953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Make in India Push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33756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Government incentives driving manufacturing growth. More factories = more operational complexity = more need for tools like Kinto.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11430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087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9593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Post-COVID Digital Shift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34340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Factory owners now demand digital records for bank loans, audits, and investor due diligence.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892040"/>
            <a:ext cx="11430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093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3C6E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9651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Competitor Gap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534924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SAP/Oracle too expensive. Tally too basic. Zoho has no shop-floor module. The ₹1,000–₹3,000/mo segment is completely underserved.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Competitive Landscape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9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201168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822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822960"/>
            <a:ext cx="137160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822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822960"/>
            <a:ext cx="146304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822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Invoicing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822960"/>
            <a:ext cx="173736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Production/BOM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822960"/>
            <a:ext cx="173736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WhatsApp Ops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3920" y="822960"/>
            <a:ext cx="146304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822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66960" y="822960"/>
            <a:ext cx="1463040" cy="41148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0" y="822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SMEs?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1261872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126187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1261872"/>
            <a:ext cx="1371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26187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₹18,000/yr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566160" y="1261872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126187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0" y="1261872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26187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66560" y="1261872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26187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03920" y="1261872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126187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966960" y="1261872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66960" y="126187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Partial — accounting only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2066544"/>
            <a:ext cx="201168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2066544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Zoho Books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94560" y="2066544"/>
            <a:ext cx="13716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66544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₹1,499/mo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566160" y="2066544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2066544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29200" y="2066544"/>
            <a:ext cx="173736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066544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766560" y="2066544"/>
            <a:ext cx="173736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2066544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503920" y="2066544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2066544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966960" y="2066544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66960" y="2066544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 manufacturing module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2880" y="2871216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2871216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SAP / Oracle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94560" y="2871216"/>
            <a:ext cx="1371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871216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₹10L+ setup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566160" y="2871216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0" y="2871216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029200" y="2871216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2871216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766560" y="2871216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2871216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503920" y="2871216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03920" y="2871216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966960" y="2871216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966960" y="2871216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✗ Too expensive for SMEs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82880" y="3675888"/>
            <a:ext cx="201168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3675888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Odoo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194560" y="3675888"/>
            <a:ext cx="13716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3675888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₹3,000+/mo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3566160" y="3675888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66160" y="3675888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029200" y="3675888"/>
            <a:ext cx="173736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0" y="367588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766560" y="3675888"/>
            <a:ext cx="173736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66560" y="367588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8503920" y="3675888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03920" y="3675888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9966960" y="3675888"/>
            <a:ext cx="14630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966960" y="3675888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Needs IT team to set up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82880" y="448056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2880" y="448056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Vyapaar/Marg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194560" y="4480560"/>
            <a:ext cx="1371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448056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₹500/mo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3566160" y="4480560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66160" y="4480560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029200" y="448056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29200" y="448056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766560" y="4480560"/>
            <a:ext cx="1737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66560" y="448056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8503920" y="4480560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503920" y="4480560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Basic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9966960" y="4480560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966960" y="4480560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Basic invoicing only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82880" y="5285232"/>
            <a:ext cx="201168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82880" y="528523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KINTO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194560" y="5285232"/>
            <a:ext cx="137160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528523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₹999/mo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3566160" y="5285232"/>
            <a:ext cx="146304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566160" y="528523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5029200" y="5285232"/>
            <a:ext cx="173736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029200" y="528523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6766560" y="5285232"/>
            <a:ext cx="173736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766560" y="528523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8503920" y="5285232"/>
            <a:ext cx="146304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503920" y="528523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9966960" y="5285232"/>
            <a:ext cx="1463040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966960" y="528523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 Built for Indian SMEs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182880" y="6144768"/>
            <a:ext cx="11978640" cy="347472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82880" y="6144768"/>
            <a:ext cx="1197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Kinto is the only platform that combines operations + quality + WhatsApp + full accounting at SME-friendly pricing.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Go-To-Market Strategy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10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2834640" cy="53492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68680"/>
            <a:ext cx="283464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68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2560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Direct Sales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10 anchor customers via personal 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Demo + free trial close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Gather testimonials &amp; case studies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868680"/>
            <a:ext cx="2834640" cy="53492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868680"/>
            <a:ext cx="283464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868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3–6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7288" y="1572768"/>
            <a:ext cx="2560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Digital Marketing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Google Ads: "Manufacturing ERP India"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LinkedIn: Factory owners + production managers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YouTube: Feature demo videos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0216" y="868680"/>
            <a:ext cx="2834640" cy="53492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0216" y="868680"/>
            <a:ext cx="2834640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0216" y="868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6–12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7376" y="1572768"/>
            <a:ext cx="2560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Channel Partners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CA firms (refer their manufacturing clients)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Equipment vendors bundle Kinto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Industry associations: CII, MSME bodies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90304" y="868680"/>
            <a:ext cx="2834640" cy="53492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0304" y="868680"/>
            <a:ext cx="28346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290304" y="868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Year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27464" y="1572768"/>
            <a:ext cx="2560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Self-Service Scale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Free trial landing 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Self-signup + automated onboarding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In-app upsell from Starter → Pro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6400800"/>
            <a:ext cx="11795760" cy="347472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400800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Target cities: Coimbatore · Pune · Ludhiana · Rajkot · Ahmedabad · Faridabad · Surat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F234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Financial Projections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11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3749040" cy="5029200"/>
          </a:xfrm>
          <a:prstGeom prst="roundRect">
            <a:avLst>
              <a:gd name="adj" fmla="val 2439"/>
            </a:avLst>
          </a:prstGeom>
          <a:solidFill>
            <a:srgbClr val="0F234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22960"/>
            <a:ext cx="374904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22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Year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Paying 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8928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25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Subscription ARR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986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₹7.5L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Customization rev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044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₹1.5L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Total ARR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9103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₹9L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43400" y="822960"/>
            <a:ext cx="3749040" cy="5029200"/>
          </a:xfrm>
          <a:prstGeom prst="roundRect">
            <a:avLst>
              <a:gd name="adj" fmla="val 2439"/>
            </a:avLst>
          </a:prstGeom>
          <a:solidFill>
            <a:srgbClr val="0F2346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3400" y="822960"/>
            <a:ext cx="374904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822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Year 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2628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Paying customers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18928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100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2628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Subscription ARR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28986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₹30L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26280" y="3520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Customization rev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39044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₹6L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2628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Total ARR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49103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</a:rPr>
              <a:t>₹36L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321040" y="822960"/>
            <a:ext cx="3749040" cy="5029200"/>
          </a:xfrm>
          <a:prstGeom prst="roundRect">
            <a:avLst>
              <a:gd name="adj" fmla="val 2439"/>
            </a:avLst>
          </a:prstGeom>
          <a:solidFill>
            <a:srgbClr val="0F2346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822960"/>
            <a:ext cx="374904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822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Year 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392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Paying customers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18928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300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50392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Subscription ARR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28986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₹90L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503920" y="3520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Customization rev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03920" y="39044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₹18L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50392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Total ARR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0" y="49103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</a:rPr>
              <a:t>₹1.08 Cr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365760" y="5989320"/>
            <a:ext cx="13716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587044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Gross margin: 85%+ (SaaS model — near-zero cost of delivery after build)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5989320"/>
            <a:ext cx="13716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6281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Break-even point: ~40 paying customers at Professional plan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5989320"/>
            <a:ext cx="13716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669340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Customization revenue: 20–30% additional on top of subscription ARR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5989320"/>
            <a:ext cx="13716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710488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Conservative projections — based on direct sales only, no paid marketing in Year 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5943600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Gross margin 85%+  ·  Break-even at ~40 customers  ·  Customization adds 20–30% on top of subscription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638251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Projections are conservative — based on direct sales. Digital marketing accelerates significantly.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12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34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Ready to Get Started?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486400" cy="5166360"/>
          </a:xfrm>
          <a:prstGeom prst="roundRect">
            <a:avLst>
              <a:gd name="adj" fmla="val 1770"/>
            </a:avLst>
          </a:prstGeom>
          <a:solidFill>
            <a:srgbClr val="0F234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51560"/>
            <a:ext cx="548640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51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For Manufacturing Companies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7830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3736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Start your free 14-day trial today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404872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35915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credit card required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026664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98094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lock-in — cancel anytime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60273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Full Professional access during trial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270248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2245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Onboarding support included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89204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84632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Your data is yours — export anytime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521208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5212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kintoops.com  →  Start Free Trial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1051560"/>
            <a:ext cx="5486400" cy="5166360"/>
          </a:xfrm>
          <a:prstGeom prst="roundRect">
            <a:avLst>
              <a:gd name="adj" fmla="val 1770"/>
            </a:avLst>
          </a:prstGeom>
          <a:solidFill>
            <a:srgbClr val="0F2346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051560"/>
            <a:ext cx="5486400" cy="5486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051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For Investors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Seed ask: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₹[X] crore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24048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 of funds: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61120" y="24048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Sales team · Marketing · Cloud infra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302666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Target (12 months):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61120" y="302666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100 paying customers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36484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Target ARR (Year 1):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61120" y="36484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₹30L+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2702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Gross margin: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61120" y="42702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85%+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4892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Break-even: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61120" y="4892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~40 customers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46520" y="521208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EA580C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Contact us to schedule a demo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KINTO SMART OPS  |  kintoops.com  |  April 2026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2026-04-07T06:32:50Z</dcterms:created>
  <dcterms:modified xsi:type="dcterms:W3CDTF">2026-04-07T06:32:50Z</dcterms:modified>
</cp:coreProperties>
</file>