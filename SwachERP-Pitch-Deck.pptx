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0D1F36"/>
          </a:solidFill>
          <a:ln w="12700">
            <a:solidFill>
              <a:srgbClr val="0D1F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18288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82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920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Swach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0" y="2468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2286000" cy="256032"/>
          </a:xfrm>
          <a:prstGeom prst="roundRect">
            <a:avLst>
              <a:gd name="adj" fmla="val 50000"/>
            </a:avLst>
          </a:prstGeom>
          <a:solidFill>
            <a:srgbClr val="0D2040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144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RESOURCE PLANNING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261872"/>
            <a:ext cx="4663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-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ERP.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57200" y="1847088"/>
            <a:ext cx="4663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-200" kern="0" dirty="0">
                <a:solidFill>
                  <a:srgbClr val="00C9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Industries.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457200" y="2432304"/>
            <a:ext cx="4663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-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Scale.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457200" y="307238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platform that runs your entire business — from restaurant counters to hospital wards, from gold shops to logistics fleets.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37490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100" kern="0" dirty="0">
                <a:solidFill>
                  <a:srgbClr val="00C9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57200" y="41330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27632" y="37490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100" kern="0" dirty="0">
                <a:solidFill>
                  <a:srgbClr val="00C9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60+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627632" y="41330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98064" y="37490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100" kern="0" dirty="0">
                <a:solidFill>
                  <a:srgbClr val="00C9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798064" y="41330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Tax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968496" y="37490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100" kern="0" dirty="0">
                <a:solidFill>
                  <a:srgbClr val="00C9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On-Prem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968496" y="41330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Cloud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94960" y="50292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0F25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394960" y="6126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🍽️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394960" y="101498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223760" y="50292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0F25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223760" y="6126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🏨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223760" y="101498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94960" y="164592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0F25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394960" y="17556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🏥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5394960" y="215798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223760" y="164592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0F25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223760" y="17556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💊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7223760" y="215798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94960" y="278892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0F25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394960" y="28986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🏭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5394960" y="330098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223760" y="278892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0F25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223760" y="28986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🛒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7223760" y="330098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/ POS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94960" y="393192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0F25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394960" y="40416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🚚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5394960" y="444398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223760" y="393192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0F25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223760" y="40416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🏗️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7223760" y="444398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8288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82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920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Swach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0" y="2468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5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Growing businesses face real operational challenges.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6070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operations scale across departments, locations, and countries, the gaps between disconnected tools become costly and hard to manage.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7472" y="1481328"/>
            <a:ext cx="2743200" cy="3438144"/>
          </a:xfrm>
          <a:prstGeom prst="roundRect">
            <a:avLst>
              <a:gd name="adj" fmla="val 3333"/>
            </a:avLst>
          </a:prstGeom>
          <a:solidFill>
            <a:srgbClr val="1522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" y="157276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🔌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12064" y="2029968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Many Disconnected Tools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2064" y="2468880"/>
            <a:ext cx="241401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businesses run separate software for billing, inventory, HR, CRM, and accounts. Data never flows seamlessly — every month-end means manual exports, re-entry, and reconciliation across systems.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2064" y="3639312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100" kern="0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Siloed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12064" y="4059936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across every department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1481328"/>
            <a:ext cx="2743200" cy="3438144"/>
          </a:xfrm>
          <a:prstGeom prst="roundRect">
            <a:avLst>
              <a:gd name="adj" fmla="val 3333"/>
            </a:avLst>
          </a:prstGeom>
          <a:solidFill>
            <a:srgbClr val="1522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0" y="157276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💸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364992" y="2029968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Cost, Low Flexibility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64992" y="2468880"/>
            <a:ext cx="241401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ERP platforms charge per seat, per module, and per vertical — costs balloon as your team and operations grow. Customisation is expensive and slow, often needing external consultants for every change.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64992" y="3639312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100" kern="0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Costly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364992" y="4059936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buy, deploy &amp; maintain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53328" y="1481328"/>
            <a:ext cx="2743200" cy="3438144"/>
          </a:xfrm>
          <a:prstGeom prst="roundRect">
            <a:avLst>
              <a:gd name="adj" fmla="val 3333"/>
            </a:avLst>
          </a:prstGeom>
          <a:solidFill>
            <a:srgbClr val="1522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53328" y="157276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🌍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217920" y="2029968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Gaps &amp; Localization Pain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17920" y="2468880"/>
            <a:ext cx="241401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tools miss local compliance — GST filing, regional languages, country-specific date/currency formats, and sector rules like FCRA, NDH, RERA. Local tools cannot scale across geographies.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3639312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100" kern="0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217920" y="4059936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localise for every market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8288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82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920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Swach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0" y="2468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5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in one platform.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6070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SwachERP replaces your entire stack with a single, deeply integrated platform built for your industry — out of the box.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572768"/>
            <a:ext cx="91440" cy="9144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8132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Vertical-First, Not Bolt-On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755648"/>
            <a:ext cx="4434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our 17 modules is purpose-built for real industry workflows — KOT sequences for restaurants, FEFO dispensing for pharmacies, NDH returns for Nidhi companies.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95728"/>
            <a:ext cx="91440" cy="9144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0428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Core, Shared Data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578608"/>
            <a:ext cx="4434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Finance, HR, CRM, Inventory, and Masters are shared across all verticals. Every sale flows into the same GL — no reconciliation exports needed.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18688"/>
            <a:ext cx="91440" cy="9144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12724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India-First, Globally Ready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401568"/>
            <a:ext cx="4434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e-invoicing, TDS, ZATCA Phase 2, EU VAT, and US Sales Tax are built into the core tax engine — configurable per country, not plugins.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041648"/>
            <a:ext cx="91440" cy="9144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95020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On-Premise or Cloud — Your Choice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224528"/>
            <a:ext cx="4434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your own servers for full data control, or use our managed cloud. Same product, same features, same updates either way.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21808" y="1481328"/>
            <a:ext cx="3456432" cy="3401568"/>
          </a:xfrm>
          <a:prstGeom prst="roundRect">
            <a:avLst>
              <a:gd name="adj" fmla="val 2688"/>
            </a:avLst>
          </a:prstGeom>
          <a:solidFill>
            <a:srgbClr val="1522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0" y="15910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modern foundations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0" y="1956816"/>
            <a:ext cx="3127248" cy="402336"/>
          </a:xfrm>
          <a:prstGeom prst="roundRect">
            <a:avLst>
              <a:gd name="adj" fmla="val 13636"/>
            </a:avLst>
          </a:prstGeom>
          <a:solidFill>
            <a:srgbClr val="0D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59552" y="195681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⚛️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961888" y="1984248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961888" y="2176272"/>
            <a:ext cx="2578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responsive UI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0" y="2432304"/>
            <a:ext cx="3127248" cy="402336"/>
          </a:xfrm>
          <a:prstGeom prst="roundRect">
            <a:avLst>
              <a:gd name="adj" fmla="val 13636"/>
            </a:avLst>
          </a:prstGeom>
          <a:solidFill>
            <a:srgbClr val="0D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59552" y="2432304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🟢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961888" y="2459736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961888" y="2651760"/>
            <a:ext cx="2578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API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0" y="2907792"/>
            <a:ext cx="3127248" cy="402336"/>
          </a:xfrm>
          <a:prstGeom prst="roundRect">
            <a:avLst>
              <a:gd name="adj" fmla="val 13636"/>
            </a:avLst>
          </a:prstGeom>
          <a:solidFill>
            <a:srgbClr val="0D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59552" y="2907792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🐘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961888" y="2935224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961888" y="3127248"/>
            <a:ext cx="2578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ACID, multi-tenant DB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0" y="3383280"/>
            <a:ext cx="3127248" cy="402336"/>
          </a:xfrm>
          <a:prstGeom prst="roundRect">
            <a:avLst>
              <a:gd name="adj" fmla="val 13636"/>
            </a:avLst>
          </a:prstGeom>
          <a:solidFill>
            <a:srgbClr val="0D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59552" y="338328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961888" y="3410712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Security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961888" y="3602736"/>
            <a:ext cx="2578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Per-screen permissions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0" y="3858768"/>
            <a:ext cx="3127248" cy="402336"/>
          </a:xfrm>
          <a:prstGeom prst="roundRect">
            <a:avLst>
              <a:gd name="adj" fmla="val 13636"/>
            </a:avLst>
          </a:prstGeom>
          <a:solidFill>
            <a:srgbClr val="0D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59552" y="385876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5961888" y="3886200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Multi-Currency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961888" y="4078224"/>
            <a:ext cx="2578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INR, USD, AED, EUR +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486400" y="4334256"/>
            <a:ext cx="3127248" cy="402336"/>
          </a:xfrm>
          <a:prstGeom prst="roundRect">
            <a:avLst>
              <a:gd name="adj" fmla="val 13636"/>
            </a:avLst>
          </a:prstGeom>
          <a:solidFill>
            <a:srgbClr val="0D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59552" y="433425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961888" y="4361688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Mobile-Ready UI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961888" y="4553712"/>
            <a:ext cx="2578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on all devices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8288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82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920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Swach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0" y="2468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INDUSTRY VERTICALS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5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industry. Our expertise.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6070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modules for every sector — each with its own workflows, compliance requirements, and role structure.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10896" y="1481328"/>
            <a:ext cx="1389888" cy="914400"/>
          </a:xfrm>
          <a:prstGeom prst="roundRect">
            <a:avLst>
              <a:gd name="adj" fmla="val 10000"/>
            </a:avLst>
          </a:prstGeom>
          <a:solidFill>
            <a:srgbClr val="0F2540"/>
          </a:solidFill>
          <a:ln w="12700">
            <a:solidFill>
              <a:srgbClr val="1B345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0896" y="1545336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🍽️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188366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21214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 · POS · ONDC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764792" y="1481328"/>
            <a:ext cx="1389888" cy="914400"/>
          </a:xfrm>
          <a:prstGeom prst="roundRect">
            <a:avLst>
              <a:gd name="adj" fmla="val 10000"/>
            </a:avLst>
          </a:prstGeom>
          <a:solidFill>
            <a:srgbClr val="0F2540"/>
          </a:solidFill>
          <a:ln w="12700">
            <a:solidFill>
              <a:srgbClr val="1B345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764792" y="1545336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🏨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819656" y="188366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819656" y="21214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· Channel Mgr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18688" y="1481328"/>
            <a:ext cx="1389888" cy="914400"/>
          </a:xfrm>
          <a:prstGeom prst="roundRect">
            <a:avLst>
              <a:gd name="adj" fmla="val 10000"/>
            </a:avLst>
          </a:prstGeom>
          <a:solidFill>
            <a:srgbClr val="0F2540"/>
          </a:solidFill>
          <a:ln w="12700">
            <a:solidFill>
              <a:srgbClr val="1B345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18688" y="1545336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🏥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273552" y="188366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73552" y="21214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 · IPD · ABDM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72584" y="1481328"/>
            <a:ext cx="1389888" cy="914400"/>
          </a:xfrm>
          <a:prstGeom prst="roundRect">
            <a:avLst>
              <a:gd name="adj" fmla="val 10000"/>
            </a:avLst>
          </a:prstGeom>
          <a:solidFill>
            <a:srgbClr val="0F2540"/>
          </a:solidFill>
          <a:ln w="12700">
            <a:solidFill>
              <a:srgbClr val="1B345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72584" y="1545336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💊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727448" y="188366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27448" y="21214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FEFO · CDSCO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26480" y="1481328"/>
            <a:ext cx="1389888" cy="914400"/>
          </a:xfrm>
          <a:prstGeom prst="roundRect">
            <a:avLst>
              <a:gd name="adj" fmla="val 10000"/>
            </a:avLst>
          </a:prstGeom>
          <a:solidFill>
            <a:srgbClr val="0F2540"/>
          </a:solidFill>
          <a:ln w="12700">
            <a:solidFill>
              <a:srgbClr val="1B345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26480" y="1545336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🌿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181344" y="188366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181344" y="21214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FCRA · 80G · CSR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580376" y="1481328"/>
            <a:ext cx="1389888" cy="914400"/>
          </a:xfrm>
          <a:prstGeom prst="roundRect">
            <a:avLst>
              <a:gd name="adj" fmla="val 10000"/>
            </a:avLst>
          </a:prstGeom>
          <a:solidFill>
            <a:srgbClr val="0F2540"/>
          </a:solidFill>
          <a:ln w="12700">
            <a:solidFill>
              <a:srgbClr val="1B345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580376" y="1545336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🏦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635240" y="188366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Nidhi Company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635240" y="21214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· NDH Returns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10896" y="2468880"/>
            <a:ext cx="1389888" cy="914400"/>
          </a:xfrm>
          <a:prstGeom prst="roundRect">
            <a:avLst>
              <a:gd name="adj" fmla="val 10000"/>
            </a:avLst>
          </a:prstGeom>
          <a:solidFill>
            <a:srgbClr val="0F2540"/>
          </a:solidFill>
          <a:ln w="12700">
            <a:solidFill>
              <a:srgbClr val="1B345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10896" y="253288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📞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365760" y="287121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65760" y="31089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· Pipeline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764792" y="2468880"/>
            <a:ext cx="1389888" cy="914400"/>
          </a:xfrm>
          <a:prstGeom prst="roundRect">
            <a:avLst>
              <a:gd name="adj" fmla="val 10000"/>
            </a:avLst>
          </a:prstGeom>
          <a:solidFill>
            <a:srgbClr val="0F2540"/>
          </a:solidFill>
          <a:ln w="12700">
            <a:solidFill>
              <a:srgbClr val="1B345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764792" y="253288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🚚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1819656" y="287121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819656" y="31089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E-way · LR · GPS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218688" y="2468880"/>
            <a:ext cx="1389888" cy="914400"/>
          </a:xfrm>
          <a:prstGeom prst="roundRect">
            <a:avLst>
              <a:gd name="adj" fmla="val 10000"/>
            </a:avLst>
          </a:prstGeom>
          <a:solidFill>
            <a:srgbClr val="0F2540"/>
          </a:solidFill>
          <a:ln w="12700">
            <a:solidFill>
              <a:srgbClr val="1B345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218688" y="253288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🏗️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3273552" y="287121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273552" y="31089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 · Demand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672584" y="2468880"/>
            <a:ext cx="1389888" cy="914400"/>
          </a:xfrm>
          <a:prstGeom prst="roundRect">
            <a:avLst>
              <a:gd name="adj" fmla="val 10000"/>
            </a:avLst>
          </a:prstGeom>
          <a:solidFill>
            <a:srgbClr val="0F2540"/>
          </a:solidFill>
          <a:ln w="12700">
            <a:solidFill>
              <a:srgbClr val="1B345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672584" y="253288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🌾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4727448" y="287121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727448" y="31089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 · PMFBY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126480" y="2468880"/>
            <a:ext cx="1389888" cy="914400"/>
          </a:xfrm>
          <a:prstGeom prst="roundRect">
            <a:avLst>
              <a:gd name="adj" fmla="val 10000"/>
            </a:avLst>
          </a:prstGeom>
          <a:solidFill>
            <a:srgbClr val="0F2540"/>
          </a:solidFill>
          <a:ln w="12700">
            <a:solidFill>
              <a:srgbClr val="1B345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126480" y="253288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6181344" y="287121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181344" y="31089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· NEP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580376" y="2468880"/>
            <a:ext cx="1389888" cy="914400"/>
          </a:xfrm>
          <a:prstGeom prst="roundRect">
            <a:avLst>
              <a:gd name="adj" fmla="val 10000"/>
            </a:avLst>
          </a:prstGeom>
          <a:solidFill>
            <a:srgbClr val="0F2540"/>
          </a:solidFill>
          <a:ln w="12700">
            <a:solidFill>
              <a:srgbClr val="1B345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7580376" y="253288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🥇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7635240" y="287121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/ Jewellery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7635240" y="31089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· Live Rates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10896" y="3456432"/>
            <a:ext cx="1389888" cy="914400"/>
          </a:xfrm>
          <a:prstGeom prst="roundRect">
            <a:avLst>
              <a:gd name="adj" fmla="val 10000"/>
            </a:avLst>
          </a:prstGeom>
          <a:solidFill>
            <a:srgbClr val="0F2540"/>
          </a:solidFill>
          <a:ln w="12700">
            <a:solidFill>
              <a:srgbClr val="1B345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310896" y="3520440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365760" y="38587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/ Payroll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365760" y="409651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EPFO · ESI · TDS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1764792" y="3456432"/>
            <a:ext cx="1389888" cy="914400"/>
          </a:xfrm>
          <a:prstGeom prst="roundRect">
            <a:avLst>
              <a:gd name="adj" fmla="val 10000"/>
            </a:avLst>
          </a:prstGeom>
          <a:solidFill>
            <a:srgbClr val="0F2540"/>
          </a:solidFill>
          <a:ln w="12700">
            <a:solidFill>
              <a:srgbClr val="1B345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1764792" y="3520440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🛒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1819656" y="38587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/ POS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1819656" y="409651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 · B2B · Loyalty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3218688" y="3456432"/>
            <a:ext cx="1389888" cy="914400"/>
          </a:xfrm>
          <a:prstGeom prst="roundRect">
            <a:avLst>
              <a:gd name="adj" fmla="val 10000"/>
            </a:avLst>
          </a:prstGeom>
          <a:solidFill>
            <a:srgbClr val="0F2540"/>
          </a:solidFill>
          <a:ln w="12700">
            <a:solidFill>
              <a:srgbClr val="1B345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3218688" y="3520440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🏭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>
            <a:off x="3273552" y="38587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3273552" y="409651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· MRP · WO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672584" y="3456432"/>
            <a:ext cx="1389888" cy="914400"/>
          </a:xfrm>
          <a:prstGeom prst="roundRect">
            <a:avLst>
              <a:gd name="adj" fmla="val 10000"/>
            </a:avLst>
          </a:prstGeom>
          <a:solidFill>
            <a:srgbClr val="0F2540"/>
          </a:solidFill>
          <a:ln w="12700">
            <a:solidFill>
              <a:srgbClr val="1B345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4672584" y="3520440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💹</a:t>
            </a:r>
            <a:endParaRPr lang="en-US" sz="2000" dirty="0"/>
          </a:p>
        </p:txBody>
      </p:sp>
      <p:sp>
        <p:nvSpPr>
          <p:cNvPr id="70" name="Text 68"/>
          <p:cNvSpPr/>
          <p:nvPr/>
        </p:nvSpPr>
        <p:spPr>
          <a:xfrm>
            <a:off x="4727448" y="38587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ERP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4727448" y="409651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· AP · Bank Recon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6126480" y="3456432"/>
            <a:ext cx="1389888" cy="914400"/>
          </a:xfrm>
          <a:prstGeom prst="roundRect">
            <a:avLst>
              <a:gd name="adj" fmla="val 10000"/>
            </a:avLst>
          </a:prstGeom>
          <a:solidFill>
            <a:srgbClr val="0F2540"/>
          </a:solidFill>
          <a:ln w="12700">
            <a:solidFill>
              <a:srgbClr val="1B345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6126480" y="3520440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🛍️</a:t>
            </a:r>
            <a:endParaRPr lang="en-US" sz="2000" dirty="0"/>
          </a:p>
        </p:txBody>
      </p:sp>
      <p:sp>
        <p:nvSpPr>
          <p:cNvPr id="74" name="Text 72"/>
          <p:cNvSpPr/>
          <p:nvPr/>
        </p:nvSpPr>
        <p:spPr>
          <a:xfrm>
            <a:off x="6181344" y="38587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6181344" y="409651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· API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8288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82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920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Swach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0" y="2468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CAPABILITIES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5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module. Deeply connected.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6070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infrastructure means zero duplication — one master, one ledger, one source of truth across all verticals.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7472" y="1481328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1522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" y="159105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1956816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 &amp; Accounting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267712"/>
            <a:ext cx="17922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Ledger · Accounts Payable / Receivable · Journal Entries · Bank Reconciliation · Period-End Close · Multi-currency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41448" y="1481328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1522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41448" y="159105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51176" y="1956816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&amp; Warehouse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51176" y="2267712"/>
            <a:ext cx="17922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Multi-location stock · FIFO / FEFO / Batch · Purchase Orders · Goods Receipt · Reorder Alerts · Barcode / QR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35424" y="1481328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1522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35424" y="159105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645152" y="1956816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&amp; Payroll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45152" y="2267712"/>
            <a:ext cx="17922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Master · Attendance &amp; Shifts · Salary Processing · EPFO / ESI / TDS · Leave Management · Payroll → GL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29400" y="1481328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1522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629400" y="159105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📣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739128" y="1956816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CRM &amp; Sales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39128" y="2267712"/>
            <a:ext cx="17922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&amp; Opportunities · Contact Master · Quotation → Invoice · WhatsApp / SMS Campaigns · Pipeline Dashboard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" y="3127248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1522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47472" y="323697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57200" y="3602736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&amp; Role Management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3913632"/>
            <a:ext cx="17922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RBAC per screen · Custom roles per vertical · Multi-branch · Approval workflows · Audit trail on writes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441448" y="3127248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1522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441448" y="323697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2551176" y="3602736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 &amp; Analytics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551176" y="3913632"/>
            <a:ext cx="17922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Cross-ERP MIS dashboard · Sales / Cash / Financial views · Report builder · Scheduled exports · Owner / CFO views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35424" y="3127248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1522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535424" y="323697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4645152" y="3602736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 Engine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645152" y="3913632"/>
            <a:ext cx="17922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API · SMS / Email triggers · EMI &amp; FD alerts · Appointment reminders · Fee due notifications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629400" y="3127248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1522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629400" y="323697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🖨️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739128" y="3602736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&amp; PDF Engine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739128" y="3913632"/>
            <a:ext cx="17922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Tax Invoices · 80G Certificates · Nidhi Passbooks · Hotel Folios · IPD Bills · Lorry Receipts (LR)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8288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82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920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Swach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0" y="2468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MULTI-COUNTRY TAX ENGINE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5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Configurable Tax Engine + Full Localization.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6070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limited to fixed regions — fully configurable per country, sector, and product. Localization covers language, currency, date formats, and address structures.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7472" y="1481328"/>
            <a:ext cx="2084832" cy="1316736"/>
          </a:xfrm>
          <a:prstGeom prst="roundRect">
            <a:avLst>
              <a:gd name="adj" fmla="val 6944"/>
            </a:avLst>
          </a:prstGeom>
          <a:solidFill>
            <a:srgbClr val="1522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" y="1572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🇮🇳  India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186537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· TDS · TCS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206654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e-invoicing IRN/QR · GSTR-1/3B · CGST/SGST/IGST · HSN/SAC · Input tax credit · Reverse charge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0" y="1481328"/>
            <a:ext cx="2084832" cy="1316736"/>
          </a:xfrm>
          <a:prstGeom prst="roundRect">
            <a:avLst>
              <a:gd name="adj" fmla="val 6944"/>
            </a:avLst>
          </a:prstGeom>
          <a:solidFill>
            <a:srgbClr val="1522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88336" y="1572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🇸🇦  Middle East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88336" y="186537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ZATCA Phase 2 · VAT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88336" y="206654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ZATCA-compliant e-invoicing · Arabic localization · QR on invoices · Clearance &amp; reporting modes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7472" y="2889504"/>
            <a:ext cx="2084832" cy="1316736"/>
          </a:xfrm>
          <a:prstGeom prst="roundRect">
            <a:avLst>
              <a:gd name="adj" fmla="val 6944"/>
            </a:avLst>
          </a:prstGeom>
          <a:solidFill>
            <a:srgbClr val="1522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" y="29809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🇪🇺  Europe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" y="32735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VAT · OSS Scheme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" y="3474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Multi-country VAT rates · B2B/B2C formats · EU numbering rules · VAT ID validation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0" y="2889504"/>
            <a:ext cx="2084832" cy="1316736"/>
          </a:xfrm>
          <a:prstGeom prst="roundRect">
            <a:avLst>
              <a:gd name="adj" fmla="val 6944"/>
            </a:avLst>
          </a:prstGeom>
          <a:solidFill>
            <a:srgbClr val="1522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688336" y="29809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🌐  Any Country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688336" y="32735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Tax Rules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88336" y="3474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slabs, exemptions, cascade rules, and filing formats for any jurisdiction — no code change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36592" y="1481328"/>
            <a:ext cx="4059936" cy="3200400"/>
          </a:xfrm>
          <a:prstGeom prst="roundRect">
            <a:avLst>
              <a:gd name="adj" fmla="val 2857"/>
            </a:avLst>
          </a:prstGeom>
          <a:solidFill>
            <a:srgbClr val="1522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01184" y="1591056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it configurable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901184" y="2029968"/>
            <a:ext cx="91440" cy="9144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84064" y="1956816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Slabs per Product / Category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84064" y="2194560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rates for goods, services, exempted items, and mixed-supply per country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01184" y="2560320"/>
            <a:ext cx="91440" cy="9144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84064" y="2487168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Tax Stacking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84064" y="2724912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+ state + cess + surcharge layers (GST) or county + city stacking (US Sales Tax)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01184" y="3090672"/>
            <a:ext cx="91440" cy="9144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84064" y="3017520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Localization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084064" y="3255264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Language, currency symbol, decimal format, date format, and address structure per tenant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01184" y="3621024"/>
            <a:ext cx="91440" cy="9144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84064" y="3547872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Sector-Specific Rules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084064" y="3785616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(drug-exempt), NGO (80G/FCRA), Gold (making charge tax), Nidhi (interest TDS)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901184" y="4151376"/>
            <a:ext cx="91440" cy="9144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84064" y="4078224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Multi-Currency GL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084064" y="4315968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currency per tenant, live exchange rates, revaluation entries auto-posted to GL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8288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82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920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Swach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0" y="2468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OPTIONS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5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On-Premise / Cloud — Your Choice.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6070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SwachERP delivers the same full-featured platform however you need to run it. No feature gaps between deployment modes.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84048" y="1481328"/>
            <a:ext cx="4133088" cy="3255264"/>
          </a:xfrm>
          <a:prstGeom prst="roundRect">
            <a:avLst>
              <a:gd name="adj" fmla="val 2809"/>
            </a:avLst>
          </a:prstGeom>
          <a:solidFill>
            <a:srgbClr val="1522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1481328"/>
            <a:ext cx="4133088" cy="54864"/>
          </a:xfrm>
          <a:prstGeom prst="roundRect">
            <a:avLst>
              <a:gd name="adj" fmla="val 83333"/>
            </a:avLst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609344"/>
            <a:ext cx="4133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🖥️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85216" y="2084832"/>
            <a:ext cx="3730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9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On-Premise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85216" y="2551176"/>
            <a:ext cx="91440" cy="9144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4871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 sovereignty — your servers, your control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5216" y="2880360"/>
            <a:ext cx="91440" cy="9144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81635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 dependency for day-to-day operations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5216" y="3209544"/>
            <a:ext cx="91440" cy="9144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3145536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 strict data residency &amp; compliance mandates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5216" y="3538728"/>
            <a:ext cx="91440" cy="9144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347472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with your existing network infrastructure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5216" y="3867912"/>
            <a:ext cx="91440" cy="9144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3803904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Air-gapped deployment for high-security environments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85216" y="4197096"/>
            <a:ext cx="91440" cy="9144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413308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licence + optional annual support contract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0016" y="1481328"/>
            <a:ext cx="4133088" cy="3255264"/>
          </a:xfrm>
          <a:prstGeom prst="roundRect">
            <a:avLst>
              <a:gd name="adj" fmla="val 2809"/>
            </a:avLst>
          </a:prstGeom>
          <a:solidFill>
            <a:srgbClr val="1522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0016" y="1481328"/>
            <a:ext cx="4133088" cy="54864"/>
          </a:xfrm>
          <a:prstGeom prst="roundRect">
            <a:avLst>
              <a:gd name="adj" fmla="val 8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0016" y="1609344"/>
            <a:ext cx="4133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☁️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4901184" y="2084832"/>
            <a:ext cx="3730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Managed Cloud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901184" y="2551176"/>
            <a:ext cx="91440" cy="9144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84064" y="24871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infrastructure to manage — we run it for you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01184" y="2880360"/>
            <a:ext cx="91440" cy="9144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84064" y="281635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updates, patches, and security fixes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01184" y="3209544"/>
            <a:ext cx="91440" cy="9144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84064" y="3145536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 with your user load and data growth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01184" y="3538728"/>
            <a:ext cx="91440" cy="9144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84064" y="347472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redundancy and 99.9% uptime SLA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901184" y="3867912"/>
            <a:ext cx="91440" cy="9144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84064" y="3803904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automated backups with point-in-time recovery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901184" y="4197096"/>
            <a:ext cx="91440" cy="9144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84064" y="413308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/ annual subscription — no upfront capex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84048" y="4809744"/>
            <a:ext cx="8375904" cy="201168"/>
          </a:xfrm>
          <a:prstGeom prst="roundRect">
            <a:avLst>
              <a:gd name="adj" fmla="val 45455"/>
            </a:avLst>
          </a:prstGeom>
          <a:solidFill>
            <a:srgbClr val="0D1F36"/>
          </a:solidFill>
          <a:ln w="12700">
            <a:solidFill>
              <a:srgbClr val="1B345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84048" y="4809744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codebase  ·  Same features  ·  Same compliance  ·  Same support  ·  Migrate between modes anytime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8288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82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920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Swach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0" y="2468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5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SwachERP wins.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6070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to generic ERP platforms and point solutions across what matters most to your business.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7472" y="1481328"/>
            <a:ext cx="8449056" cy="329184"/>
          </a:xfrm>
          <a:prstGeom prst="rect">
            <a:avLst/>
          </a:prstGeom>
          <a:solidFill>
            <a:srgbClr val="0D1F36"/>
          </a:solidFill>
          <a:ln w="12700">
            <a:solidFill>
              <a:srgbClr val="0D1F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1499616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17520" y="1499616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SWACHERP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45736" y="1499616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/ ORACLE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64808" y="1499616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 / VYAPAR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183880" y="1499616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ONE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" y="1828800"/>
            <a:ext cx="8449056" cy="374904"/>
          </a:xfrm>
          <a:prstGeom prst="rect">
            <a:avLst/>
          </a:prstGeom>
          <a:solidFill>
            <a:srgbClr val="0E1E30"/>
          </a:solidFill>
          <a:ln w="12700">
            <a:solidFill>
              <a:srgbClr val="0E1E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1883664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Industry-specific workflows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017520" y="1883664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verticals built-in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45736" y="1883664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Add-ons (costly)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64808" y="1883664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verticals only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183880" y="1883664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modules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20624" y="225856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GL across verticals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017520" y="225856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ledger, auto-post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45736" y="225856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Complex, expensive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64808" y="225856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GL / ERP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183880" y="225856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books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7472" y="2578608"/>
            <a:ext cx="8449056" cy="374904"/>
          </a:xfrm>
          <a:prstGeom prst="rect">
            <a:avLst/>
          </a:prstGeom>
          <a:solidFill>
            <a:srgbClr val="0E1E30"/>
          </a:solidFill>
          <a:ln w="12700">
            <a:solidFill>
              <a:srgbClr val="0E1E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" y="2633472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GST + e-invoicing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017520" y="2633472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IRN / QR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45736" y="2633472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required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64808" y="2633472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183880" y="2633472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20624" y="3008376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multi-country tax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017520" y="3008376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country, no code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45736" y="3008376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config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64808" y="3008376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only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83880" y="3008376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47472" y="3328416"/>
            <a:ext cx="8449056" cy="374904"/>
          </a:xfrm>
          <a:prstGeom prst="rect">
            <a:avLst/>
          </a:prstGeom>
          <a:solidFill>
            <a:srgbClr val="0E1E30"/>
          </a:solidFill>
          <a:ln w="12700">
            <a:solidFill>
              <a:srgbClr val="0E1E3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0624" y="3383280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+ Restaurant KOT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017520" y="3383280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POS + KOT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745736" y="3383280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module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464808" y="3383280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available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183880" y="3383280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available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20624" y="3758184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/ Pharmacy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017520" y="3758184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ABDM + FEFO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745736" y="3758184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vertical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464808" y="3758184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183880" y="3758184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47472" y="4078224"/>
            <a:ext cx="8449056" cy="374904"/>
          </a:xfrm>
          <a:prstGeom prst="rect">
            <a:avLst/>
          </a:prstGeom>
          <a:solidFill>
            <a:srgbClr val="0E1E30"/>
          </a:solidFill>
          <a:ln w="12700">
            <a:solidFill>
              <a:srgbClr val="0E1E3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0624" y="413308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deployment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017520" y="413308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support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745736" y="413308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support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464808" y="413308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available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8183880" y="4133088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only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20624" y="4507992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time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3017520" y="4507992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to weeks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4745736" y="4507992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6–18 months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6464808" y="4507992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8183880" y="4507992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8288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82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920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Swach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0" y="2468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5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in weeks, not months.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6070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4-phase onboarding gets you fully operational — with dedicated support at every step.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7472" y="1481328"/>
            <a:ext cx="1572768" cy="2743200"/>
          </a:xfrm>
          <a:prstGeom prst="roundRect">
            <a:avLst>
              <a:gd name="adj" fmla="val 5814"/>
            </a:avLst>
          </a:prstGeom>
          <a:solidFill>
            <a:srgbClr val="1522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05256" y="1645920"/>
            <a:ext cx="457200" cy="457200"/>
          </a:xfrm>
          <a:prstGeom prst="ellipse">
            <a:avLst/>
          </a:prstGeom>
          <a:solidFill>
            <a:srgbClr val="0D2040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🗺️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38912" y="2176272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8912" y="2395728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 &amp; Setup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" y="2724912"/>
            <a:ext cx="138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workshop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provisioning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&amp; module selection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role mapping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920240" y="1874520"/>
            <a:ext cx="109728" cy="0"/>
          </a:xfrm>
          <a:prstGeom prst="line">
            <a:avLst/>
          </a:prstGeom>
          <a:noFill/>
          <a:ln w="12700">
            <a:solidFill>
              <a:srgbClr val="00C9B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29968" y="1481328"/>
            <a:ext cx="1572768" cy="2743200"/>
          </a:xfrm>
          <a:prstGeom prst="roundRect">
            <a:avLst>
              <a:gd name="adj" fmla="val 5814"/>
            </a:avLst>
          </a:prstGeom>
          <a:solidFill>
            <a:srgbClr val="1522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87752" y="1645920"/>
            <a:ext cx="457200" cy="457200"/>
          </a:xfrm>
          <a:prstGeom prst="ellipse">
            <a:avLst/>
          </a:prstGeom>
          <a:solidFill>
            <a:srgbClr val="0D2040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87752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121408" y="2176272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21408" y="2395728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Migration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121408" y="2724912"/>
            <a:ext cx="138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 import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of accounts setup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balances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/ inventory seed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02736" y="1874520"/>
            <a:ext cx="109728" cy="0"/>
          </a:xfrm>
          <a:prstGeom prst="line">
            <a:avLst/>
          </a:prstGeom>
          <a:noFill/>
          <a:ln w="12700">
            <a:solidFill>
              <a:srgbClr val="00C9B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12464" y="1481328"/>
            <a:ext cx="1572768" cy="2743200"/>
          </a:xfrm>
          <a:prstGeom prst="roundRect">
            <a:avLst>
              <a:gd name="adj" fmla="val 5814"/>
            </a:avLst>
          </a:prstGeom>
          <a:solidFill>
            <a:srgbClr val="1522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70248" y="1645920"/>
            <a:ext cx="457200" cy="457200"/>
          </a:xfrm>
          <a:prstGeom prst="ellipse">
            <a:avLst/>
          </a:prstGeom>
          <a:solidFill>
            <a:srgbClr val="0D2040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70248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🧪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803904" y="2176272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803904" y="2395728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 &amp; Training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803904" y="2724912"/>
            <a:ext cx="138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workflows config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&amp; compliance setup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training sessions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run testing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285232" y="1874520"/>
            <a:ext cx="109728" cy="0"/>
          </a:xfrm>
          <a:prstGeom prst="line">
            <a:avLst/>
          </a:prstGeom>
          <a:noFill/>
          <a:ln w="12700">
            <a:solidFill>
              <a:srgbClr val="00C9B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94960" y="1481328"/>
            <a:ext cx="1572768" cy="2743200"/>
          </a:xfrm>
          <a:prstGeom prst="roundRect">
            <a:avLst>
              <a:gd name="adj" fmla="val 5814"/>
            </a:avLst>
          </a:prstGeom>
          <a:solidFill>
            <a:srgbClr val="1522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952744" y="1645920"/>
            <a:ext cx="457200" cy="457200"/>
          </a:xfrm>
          <a:prstGeom prst="ellipse">
            <a:avLst/>
          </a:prstGeom>
          <a:solidFill>
            <a:srgbClr val="0D2040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52744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86400" y="2176272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0" y="2395728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Go-Live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0" y="2724912"/>
            <a:ext cx="138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Cutover to live data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Hypercare support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monitoring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Post-go-live review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967728" y="1874520"/>
            <a:ext cx="109728" cy="0"/>
          </a:xfrm>
          <a:prstGeom prst="line">
            <a:avLst/>
          </a:prstGeom>
          <a:noFill/>
          <a:ln w="12700">
            <a:solidFill>
              <a:srgbClr val="00C9B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77456" y="1481328"/>
            <a:ext cx="1572768" cy="2743200"/>
          </a:xfrm>
          <a:prstGeom prst="roundRect">
            <a:avLst>
              <a:gd name="adj" fmla="val 5814"/>
            </a:avLst>
          </a:prstGeom>
          <a:solidFill>
            <a:srgbClr val="1522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35240" y="1645920"/>
            <a:ext cx="457200" cy="457200"/>
          </a:xfrm>
          <a:prstGeom prst="ellipse">
            <a:avLst/>
          </a:prstGeom>
          <a:solidFill>
            <a:srgbClr val="0D2040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352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168896" y="2176272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168896" y="2395728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Success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168896" y="2724912"/>
            <a:ext cx="138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review calls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updates (auto)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updates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account mgr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8288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82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920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Swach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0" y="2468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5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Enterprise-grade security.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6070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of SwachERP is built with security as a first principle — not an afterthought.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7472" y="1481328"/>
            <a:ext cx="2706624" cy="1517904"/>
          </a:xfrm>
          <a:prstGeom prst="roundRect">
            <a:avLst>
              <a:gd name="adj" fmla="val 6024"/>
            </a:avLst>
          </a:prstGeom>
          <a:solidFill>
            <a:srgbClr val="1522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" y="1591056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93776" y="1975104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Multi-Tenant Isolation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" y="2267712"/>
            <a:ext cx="2414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tenant_id enforcement on every database query. Your data is completely isolated at the query level — not just the application layer.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36392" y="1481328"/>
            <a:ext cx="2706624" cy="1517904"/>
          </a:xfrm>
          <a:prstGeom prst="roundRect">
            <a:avLst>
              <a:gd name="adj" fmla="val 6024"/>
            </a:avLst>
          </a:prstGeom>
          <a:solidFill>
            <a:srgbClr val="1522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36392" y="1591056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82696" y="1975104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 Control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82696" y="2267712"/>
            <a:ext cx="2414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RBAC per screen, per action, per vertical. Custom roles with configurable permission sets. Every access decision is logged.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25312" y="1481328"/>
            <a:ext cx="2706624" cy="1517904"/>
          </a:xfrm>
          <a:prstGeom prst="roundRect">
            <a:avLst>
              <a:gd name="adj" fmla="val 6024"/>
            </a:avLst>
          </a:prstGeom>
          <a:solidFill>
            <a:srgbClr val="1522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25312" y="1591056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071616" y="1975104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Audit Trail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71616" y="2267712"/>
            <a:ext cx="2414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 operation is logged with user, timestamp, IP, and before/after values — a tamper-evident trail for compliance and forensics.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7472" y="3090672"/>
            <a:ext cx="2706624" cy="1517904"/>
          </a:xfrm>
          <a:prstGeom prst="roundRect">
            <a:avLst>
              <a:gd name="adj" fmla="val 6024"/>
            </a:avLst>
          </a:prstGeom>
          <a:solidFill>
            <a:srgbClr val="1522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7472" y="3200400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93776" y="3584448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Encryption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" y="3877056"/>
            <a:ext cx="2414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encrypted at rest and in transit (TLS 1.3). Passwords and API keys hashed with bcrypt. Zero plaintext secrets in the database.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136392" y="3090672"/>
            <a:ext cx="2706624" cy="1517904"/>
          </a:xfrm>
          <a:prstGeom prst="roundRect">
            <a:avLst>
              <a:gd name="adj" fmla="val 6024"/>
            </a:avLst>
          </a:prstGeom>
          <a:solidFill>
            <a:srgbClr val="1522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136392" y="3200400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282696" y="3584448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Backups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82696" y="3877056"/>
            <a:ext cx="2414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automated database backups with point-in-time recovery. Backups retained for 30 days with geo-redundant storage.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925312" y="3090672"/>
            <a:ext cx="2706624" cy="1517904"/>
          </a:xfrm>
          <a:prstGeom prst="roundRect">
            <a:avLst>
              <a:gd name="adj" fmla="val 6024"/>
            </a:avLst>
          </a:prstGeom>
          <a:solidFill>
            <a:srgbClr val="15223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925312" y="3200400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071616" y="3584448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Compliance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071616" y="3877056"/>
            <a:ext cx="2414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controls for GST audit, RBI Nidhi, FCRA donor reporting, RERA project disclosures, and healthcare data privacy.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22960"/>
            <a:ext cx="7315200" cy="3749040"/>
          </a:xfrm>
          <a:prstGeom prst="roundRect">
            <a:avLst>
              <a:gd name="adj" fmla="val 2439"/>
            </a:avLst>
          </a:prstGeom>
          <a:solidFill>
            <a:srgbClr val="0D1F36"/>
          </a:solidFill>
          <a:ln w="12700">
            <a:solidFill>
              <a:srgbClr val="1B345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347472" y="18288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82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920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Swach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0" y="2468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71600" y="10241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TRANSFORM YOUR BUSINESS?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71600" y="1316736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-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build something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371600" y="1901952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-200" kern="0" dirty="0">
                <a:solidFill>
                  <a:srgbClr val="00C9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extraordinary together.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1645920" y="2596896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demo to see SwachERP running on your industry's workflows.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show you live data, real compliance scenarios, and an on-premise deployment walkthrough.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54480" y="33832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554480" y="35844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www.swacherp.com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0" y="33832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840480" y="35844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sales@microgrid.com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33832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7B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126480" y="35844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98483 11514 / 90001 51199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SwachERP — Confidential and Proprietary. Not for distribution.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2026-07-20T10:54:00Z</dcterms:created>
  <dcterms:modified xsi:type="dcterms:W3CDTF">2026-07-20T10:54:00Z</dcterms:modified>
</cp:coreProperties>
</file>