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376672"/>
            <a:ext cx="12192000" cy="1481328"/>
          </a:xfrm>
          <a:prstGeom prst="rect">
            <a:avLst/>
          </a:prstGeom>
          <a:solidFill>
            <a:srgbClr val="162D4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0"/>
            <a:ext cx="4416552" cy="5303520"/>
          </a:xfrm>
          <a:prstGeom prst="rect">
            <a:avLst/>
          </a:prstGeom>
          <a:solidFill>
            <a:srgbClr val="162D4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0"/>
            <a:ext cx="54864" cy="5303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256032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Indian Manufacturing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Kinto Smart Ops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ERP Platform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Indian Manufacturers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· HR &amp; Payroll · GST Invoicing · CRM · Accounting · WhatsApp · MIS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822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046720" y="12984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Modules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19019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04672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298094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046720" y="3456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405993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046720" y="45354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Sales Presentation  | 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58064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www.kintoops.in  |  hello@kintoops.in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Indian Manufacturers Face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280160"/>
            <a:ext cx="3749040" cy="1737360"/>
          </a:xfrm>
          <a:prstGeom prst="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716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627632"/>
            <a:ext cx="35295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tracked on Excel, inventory on paper, accounts in Tally — no single source of truth.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06240" y="1280160"/>
            <a:ext cx="3749040" cy="1737360"/>
          </a:xfrm>
          <a:prstGeom prst="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5968" y="13716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15968" y="1627632"/>
            <a:ext cx="35295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get weekly/monthly reports. By the time they act, the problem has grown.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1280160"/>
            <a:ext cx="3749040" cy="1737360"/>
          </a:xfrm>
          <a:prstGeom prst="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3716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Compliance Burden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47888" y="1627632"/>
            <a:ext cx="35295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invoice creation, error-prone GST calculations, last-minute filing stress every month.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3749040" cy="1737360"/>
          </a:xfrm>
          <a:prstGeom prst="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29184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Done Manually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3547872"/>
            <a:ext cx="35295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in registers, payroll on Excel, payslips printed by hand — error-prone and time-consuming.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06240" y="3200400"/>
            <a:ext cx="3749040" cy="1737360"/>
          </a:xfrm>
          <a:prstGeom prst="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329184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15968" y="3547872"/>
            <a:ext cx="35295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leads tracked on WhatsApp or notebooks. Follow-ups missed. Deals lost without knowing why.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38160" y="3200400"/>
            <a:ext cx="3749040" cy="1737360"/>
          </a:xfrm>
          <a:prstGeom prst="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47888" y="329184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ESS for Employees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47888" y="3547872"/>
            <a:ext cx="35295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call HR for payslips, leave balances, tax info. HR spends hours on routine queries.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Everything Connected.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Kinto Smart Ops replaces every tool your factory uses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2377440"/>
            <a:ext cx="2651760" cy="2651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8346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Kinto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Ops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" y="1371600"/>
            <a:ext cx="2286000" cy="822960"/>
          </a:xfrm>
          <a:prstGeom prst="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2743200"/>
            <a:ext cx="2286000" cy="822960"/>
          </a:xfrm>
          <a:prstGeom prst="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2743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Invoicing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Accounting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4114800"/>
            <a:ext cx="2286000" cy="822960"/>
          </a:xfrm>
          <a:prstGeom prst="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" y="4114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1371600"/>
            <a:ext cx="2286000" cy="822960"/>
          </a:xfrm>
          <a:prstGeom prst="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Payroll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ESS Portal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0" y="2743200"/>
            <a:ext cx="2286000" cy="822960"/>
          </a:xfrm>
          <a:prstGeom prst="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2743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Pipeline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0" y="4114800"/>
            <a:ext cx="2286000" cy="822960"/>
          </a:xfrm>
          <a:prstGeom prst="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4114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Analytics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6 different tools with one integrated cloud ERP — no more data silos.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Integrated Modules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your factory needs — all in one place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2344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3258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Management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78608" y="12344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3258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Control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28616" y="12344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28616" y="13258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78624" y="12344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78624" y="13258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Invoicing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28632" y="12344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28632" y="13258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&amp; Gatepasses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8346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9260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Returns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78608" y="28346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8608" y="29260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Accounting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28616" y="28346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29260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Analytics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78624" y="28346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78624" y="29260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28632" y="28346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28632" y="29260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Integration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44348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45262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&amp; Cash Register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78608" y="44348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78608" y="45262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28616" y="4434840"/>
            <a:ext cx="2194560" cy="1417320"/>
          </a:xfrm>
          <a:prstGeom prst="rect">
            <a:avLst>
              <a:gd name="adj" fmla="val 5161"/>
            </a:avLst>
          </a:prstGeom>
          <a:solidFill>
            <a:srgbClr val="1E3A5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28616" y="45262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Lead Management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0216" y="4297680"/>
            <a:ext cx="640080" cy="201168"/>
          </a:xfrm>
          <a:prstGeom prst="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300216" y="42976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278624" y="4434840"/>
            <a:ext cx="2194560" cy="1417320"/>
          </a:xfrm>
          <a:prstGeom prst="rect">
            <a:avLst>
              <a:gd name="adj" fmla="val 5161"/>
            </a:avLst>
          </a:prstGeom>
          <a:solidFill>
            <a:srgbClr val="1E3A5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78624" y="45262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Payroll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650224" y="4297680"/>
            <a:ext cx="640080" cy="201168"/>
          </a:xfrm>
          <a:prstGeom prst="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8650224" y="42976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9628632" y="4434840"/>
            <a:ext cx="2194560" cy="1417320"/>
          </a:xfrm>
          <a:prstGeom prst="rect">
            <a:avLst>
              <a:gd name="adj" fmla="val 5161"/>
            </a:avLst>
          </a:prstGeom>
          <a:solidFill>
            <a:srgbClr val="1E3A5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28632" y="45262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Self-Service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1000232" y="4297680"/>
            <a:ext cx="640080" cy="201168"/>
          </a:xfrm>
          <a:prstGeom prst="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11000232" y="42976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Operations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material to finished goods — fully tracked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28016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7160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BOM-Driven Production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62763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Bills of Materials for each product. Production entries auto-calculate material consumption.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37160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Batch Tracking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27648" y="162763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deducted using First-In-First-Out batches. Full traceability from GRN to dispatch.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06324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331927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return workflow — inspection, rejection, and restocking with audit trail.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297180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306324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Gatepass &amp; Dispatch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27648" y="331927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Invoice-first dispatch with digital signatures. State machine prevents tampering after issue.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754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501091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management, GRN against PO, debit notes, and raw material traceability.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466344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4754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501091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Machine-wise schedules, checklist tracking, spare part inventory, and overdue alerts.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&amp; 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GST-compliant, audit-ready, real-time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887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GST-compliant tax invoices with GSTIN validation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notes, debit notes, and receipt vouchers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Chart of Accounts (COA)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Loss statement — real-time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— live, no month-end closing needed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advances with auto-adjustment on invoices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debit note adjustments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register with daily voucher printing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tracking with category-wise reports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234440"/>
            <a:ext cx="548640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325880"/>
            <a:ext cx="5266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Analytics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19088" y="1581912"/>
            <a:ext cx="52669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KPIs, production efficiency, cash flow, inventory turnover — no Excel needed.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9360" y="3017520"/>
            <a:ext cx="548640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3108960"/>
            <a:ext cx="5266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19088" y="3364992"/>
            <a:ext cx="52669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customer, product, and period. Overdue receivables at a glance.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4800600"/>
            <a:ext cx="548640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4892040"/>
            <a:ext cx="5266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Reports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19088" y="5148072"/>
            <a:ext cx="52669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GSTR-ready summaries exportable for direct filing.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Payroll Module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employee lifecycle management — NEW in Enterprise plan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789920" y="73152"/>
            <a:ext cx="822960" cy="292608"/>
          </a:xfrm>
          <a:prstGeom prst="rect">
            <a:avLst>
              <a:gd name="adj" fmla="val 15625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7315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234440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325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Master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1581912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 form: personal, employment, statutory, bank, and family details. Department, designation &amp; shift masters.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234440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1325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27648" y="1581912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attendance tracking, monthly calendar view, late/absent reports.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532888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624328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880360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types, approval workflows, WhatsApp notifications, EL year-end carry-forward.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2532888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2624328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Processing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27648" y="2880360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structures with Basic/HRA/DA components, PF/ESI auto-calc, PT from state slabs.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831336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922776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&amp; Compliance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4178808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TDS projection (Old &amp; New regime), investment declaration (80C/80D/HRA), Form 16 Part A+B.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3831336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3922776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7648" y="4178808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openings with Kanban pipeline, candidate applications, and stage tracking.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5129784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5221224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&amp; Final Settlement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" y="5477256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 pending salary, EL encashment, gratuity, and notice recovery.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5129784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5221224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Delivery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27648" y="5477256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 individual payslip delivery via WhatsApp and Email — one click.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Lead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 a sales opportunity — NEW in Professional plan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789920" y="73152"/>
            <a:ext cx="822960" cy="292608"/>
          </a:xfrm>
          <a:prstGeom prst="rect">
            <a:avLst>
              <a:gd name="adj" fmla="val 15625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7315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" y="1280160"/>
            <a:ext cx="1828800" cy="502920"/>
          </a:xfrm>
          <a:prstGeom prst="rect">
            <a:avLst>
              <a:gd name="adj" fmla="val 10909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13898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94560" y="1280160"/>
            <a:ext cx="1828800" cy="502920"/>
          </a:xfrm>
          <a:prstGeom prst="rect">
            <a:avLst>
              <a:gd name="adj" fmla="val 10909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77640" y="13898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60520" y="1280160"/>
            <a:ext cx="1828800" cy="502920"/>
          </a:xfrm>
          <a:prstGeom prst="rect">
            <a:avLst>
              <a:gd name="adj" fmla="val 10909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16052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13898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280160"/>
            <a:ext cx="1828800" cy="502920"/>
          </a:xfrm>
          <a:prstGeom prst="rect">
            <a:avLst>
              <a:gd name="adj" fmla="val 10909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09560" y="13898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92440" y="1280160"/>
            <a:ext cx="1828800" cy="502920"/>
          </a:xfrm>
          <a:prstGeom prst="rect">
            <a:avLst>
              <a:gd name="adj" fmla="val 10909"/>
            </a:avLst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809244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0" y="13898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0" y="1280160"/>
            <a:ext cx="1828800" cy="502920"/>
          </a:xfrm>
          <a:prstGeom prst="rect">
            <a:avLst>
              <a:gd name="adj" fmla="val 10909"/>
            </a:avLst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" y="1170432"/>
            <a:ext cx="1170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Lead Pipeline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2011680"/>
            <a:ext cx="3749040" cy="1874520"/>
          </a:xfrm>
          <a:prstGeom prst="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" y="210312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 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" y="2359152"/>
            <a:ext cx="3529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leads across pipeline stages visually. Instantly see where every deal stands.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60520" y="2011680"/>
            <a:ext cx="3749040" cy="1874520"/>
          </a:xfrm>
          <a:prstGeom prst="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70248" y="210312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View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70248" y="2359152"/>
            <a:ext cx="3529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sort, and export your entire lead list for reporting and analysis.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92440" y="2011680"/>
            <a:ext cx="3749040" cy="1874520"/>
          </a:xfrm>
          <a:prstGeom prst="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02168" y="210312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Form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02168" y="2359152"/>
            <a:ext cx="3529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company, phone, email, source, product interest, follow-up date, notes.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4023360"/>
            <a:ext cx="3749040" cy="1874520"/>
          </a:xfrm>
          <a:prstGeom prst="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" y="41148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Assignment-Based Access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8328" y="4370832"/>
            <a:ext cx="3529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leads to sales reps. Reps only see and edit their own leads. Managers see all.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160520" y="4023360"/>
            <a:ext cx="3749040" cy="1874520"/>
          </a:xfrm>
          <a:prstGeom prst="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70248" y="41148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Tracking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270248" y="4370832"/>
            <a:ext cx="3529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next follow-up dates. Never let a lead go cold.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092440" y="4023360"/>
            <a:ext cx="3749040" cy="1874520"/>
          </a:xfrm>
          <a:prstGeom prst="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02168" y="41148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02168" y="4370832"/>
            <a:ext cx="3529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 by stage — instant visibility into your sales funnel health.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Self-Service (ESS) Portal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your employees — reduce HR workload — NEW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789920" y="73152"/>
            <a:ext cx="822960" cy="292608"/>
          </a:xfrm>
          <a:prstGeom prst="rect">
            <a:avLst>
              <a:gd name="adj" fmla="val 15625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7315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Employees Can 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6002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print payslips for any month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monthly attendance records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leave balances and apply for leave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tax investment declarations (80C / 80D / HRA)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their own profile and employment details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leave approval status in real-time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5486400" cy="5394960"/>
          </a:xfrm>
          <a:prstGeom prst="rect">
            <a:avLst>
              <a:gd name="adj" fmla="val 1695"/>
            </a:avLst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325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HR Gains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5029200" cy="987552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184708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payslip queries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10528" y="208483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download their own payslips anytime.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0" y="2880360"/>
            <a:ext cx="5029200" cy="987552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94436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leave calls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10528" y="318211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balances visible to employees 24x7.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0" y="3977640"/>
            <a:ext cx="5029200" cy="987552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404164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tax declarations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10528" y="427939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submit 80C/80D data online — no forms.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5074920"/>
            <a:ext cx="5029200" cy="987552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513892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ESS control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10528" y="537667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enables ESS per employee and sets their login password.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login portal — employees never access your main ERP.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WhatsApp-First Workflows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factory floor runs on WhatsApp — so does Kinto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23444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25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Startup Checklists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58191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receive daily checklists on WhatsApp. Answers captured, AI-interpreted, and logged automatically — no app required.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325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Approval Notifications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27648" y="158191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employee applies for leave, the approver gets a WhatsApp message instantly. No email delays.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01752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Delivery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327355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payslips to all employees via WhatsApp in one click. Individually or in bulk — every month.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292608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301752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Checklist Alerts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27648" y="327355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Auto-reminders if an operator hasn't completed their startup checklist by the scheduled time.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61772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70916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Expiry Alerts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496519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WhatsApp alerts before quality certificates, vendor contracts, or compliance documents expire.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461772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470916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Responses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496519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Colloki Flow AI interprets operator WhatsApp replies and flags anomalies for supervisors.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Kinto Smart Ops?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Indian manufacturing — not a global ERP adapted for India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23444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25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GST Built-In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58191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GSTIN validation, tax invoices, e-way bills, GSTR-ready reports. Designed for Indian compliance from day one — not an afterthought.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325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Native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27648" y="158191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operators already use WhatsApp. Kinto meets them there — checklists, alerts, payslips all via WhatsApp.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01752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327355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73+ screens with granular permissions per role. Admin, Manager, Accountant, Operator — each sees only what they need.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292608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301752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27648" y="327355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completely isolated. Every tenant gets their own secure workspace on our cloud platform.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61772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70916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Plan-Gated Modules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496519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what you need, scale as you grow. Upgrade plans to unlock HR &amp; Payroll, CRM, and more.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461772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470916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Onboarding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496519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trial. No credit card. Most teams are live within a week with guided setup.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 include a 14-day free trial · No credit card required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234440"/>
            <a:ext cx="3657600" cy="521208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258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₹999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57400" y="1901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2128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base users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₹100–150 per additional user/month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0352" y="272491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26791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invoicing &amp; receipts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0352" y="310896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0352" y="3493008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4472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&amp; sales orders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" y="3877056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8313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Gatepasses &amp; dispatch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0352" y="4261104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2153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&amp; documents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0352" y="464515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4599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06240" y="1234440"/>
            <a:ext cx="3657600" cy="5212080"/>
          </a:xfrm>
          <a:prstGeom prst="rect">
            <a:avLst>
              <a:gd name="adj" fmla="val 2500"/>
            </a:avLst>
          </a:prstGeom>
          <a:solidFill>
            <a:srgbClr val="1E3A5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0" y="1051560"/>
            <a:ext cx="1828800" cy="320040"/>
          </a:xfrm>
          <a:prstGeom prst="rect">
            <a:avLst>
              <a:gd name="adj" fmla="val 1714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43400" y="13258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343400" y="16642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₹1,499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897880" y="1901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43400" y="22128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base users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343400" y="24231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₹100–150 per additional user/month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70832" y="272491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4553712" y="26791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Basic features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70832" y="310896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7" name="Text 35"/>
          <p:cNvSpPr/>
          <p:nvPr/>
        </p:nvSpPr>
        <p:spPr>
          <a:xfrm>
            <a:off x="4553712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BOM tracking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370832" y="3493008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9" name="Text 37"/>
          <p:cNvSpPr/>
          <p:nvPr/>
        </p:nvSpPr>
        <p:spPr>
          <a:xfrm>
            <a:off x="4553712" y="34472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accounting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70832" y="3877056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1" name="Text 39"/>
          <p:cNvSpPr/>
          <p:nvPr/>
        </p:nvSpPr>
        <p:spPr>
          <a:xfrm>
            <a:off x="4553712" y="38313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analytics dashboards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370832" y="4261104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3" name="Text 41"/>
          <p:cNvSpPr/>
          <p:nvPr/>
        </p:nvSpPr>
        <p:spPr>
          <a:xfrm>
            <a:off x="4553712" y="42153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lead management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70832" y="464515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5" name="Text 43"/>
          <p:cNvSpPr/>
          <p:nvPr/>
        </p:nvSpPr>
        <p:spPr>
          <a:xfrm>
            <a:off x="4553712" y="4599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checklists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370832" y="502920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7" name="Text 45"/>
          <p:cNvSpPr/>
          <p:nvPr/>
        </p:nvSpPr>
        <p:spPr>
          <a:xfrm>
            <a:off x="4553712" y="4983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370832" y="5413248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9" name="Text 47"/>
          <p:cNvSpPr/>
          <p:nvPr/>
        </p:nvSpPr>
        <p:spPr>
          <a:xfrm>
            <a:off x="4553712" y="53675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046720" y="1234440"/>
            <a:ext cx="3657600" cy="521208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83880" y="13258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8183880" y="16642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₹2,599</a:t>
            </a:r>
            <a:endParaRPr lang="en-US" sz="2800" dirty="0"/>
          </a:p>
        </p:txBody>
      </p:sp>
      <p:sp>
        <p:nvSpPr>
          <p:cNvPr id="53" name="Text 51"/>
          <p:cNvSpPr/>
          <p:nvPr/>
        </p:nvSpPr>
        <p:spPr>
          <a:xfrm>
            <a:off x="9738360" y="1901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183880" y="22128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base users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183880" y="24231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₹100–150 per additional user/month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211312" y="272491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7" name="Text 55"/>
          <p:cNvSpPr/>
          <p:nvPr/>
        </p:nvSpPr>
        <p:spPr>
          <a:xfrm>
            <a:off x="8394192" y="26791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Professional features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211312" y="310896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9" name="Text 57"/>
          <p:cNvSpPr/>
          <p:nvPr/>
        </p:nvSpPr>
        <p:spPr>
          <a:xfrm>
            <a:off x="8394192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Payroll module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211312" y="3493008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1" name="Text 59"/>
          <p:cNvSpPr/>
          <p:nvPr/>
        </p:nvSpPr>
        <p:spPr>
          <a:xfrm>
            <a:off x="8394192" y="34472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Self-Service portal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211312" y="3877056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3" name="Text 61"/>
          <p:cNvSpPr/>
          <p:nvPr/>
        </p:nvSpPr>
        <p:spPr>
          <a:xfrm>
            <a:off x="8394192" y="38313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&amp; compliance (Form 16)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211312" y="4261104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5" name="Text 63"/>
          <p:cNvSpPr/>
          <p:nvPr/>
        </p:nvSpPr>
        <p:spPr>
          <a:xfrm>
            <a:off x="8394192" y="42153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management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211312" y="464515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7" name="Text 65"/>
          <p:cNvSpPr/>
          <p:nvPr/>
        </p:nvSpPr>
        <p:spPr>
          <a:xfrm>
            <a:off x="8394192" y="4599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branding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211312" y="502920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9" name="Text 67"/>
          <p:cNvSpPr/>
          <p:nvPr/>
        </p:nvSpPr>
        <p:spPr>
          <a:xfrm>
            <a:off x="8394192" y="4983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65760" y="649224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custom plan for large enterprises? Contact us: hello@kintoops.in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Indian Manufacturers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feedback from real customers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280160"/>
            <a:ext cx="3749040" cy="5029200"/>
          </a:xfrm>
          <a:prstGeom prst="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★ ★ ★ 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"Kinto Smart Ops transformed how we track production. Real-time inventory and GST invoicing in one place — we cut our month-end closing time from 3 days to 4 hours."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5120640"/>
            <a:ext cx="34747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5193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Sharma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544982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Precision Parts Mfg.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60520" y="1280160"/>
            <a:ext cx="3749040" cy="5029200"/>
          </a:xfrm>
          <a:prstGeom prst="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★ ★ ★ 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17830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HR &amp; Payroll module with automated TDS calculations and payslip delivery via WhatsApp saved us days every month. Employees no longer call us for payslip queries."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5120640"/>
            <a:ext cx="34747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5193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Patel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0" y="544982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CFO, Alpha Industries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92440" y="1280160"/>
            <a:ext cx="3749040" cy="5029200"/>
          </a:xfrm>
          <a:prstGeom prst="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★ ★ ★ 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0" y="17830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purchase orders to dispatch gatepasses, everything flows seamlessly. The CRM pipeline helped us recover 3 deals we had forgotten about. Our team adopted it within a week."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0" y="5120640"/>
            <a:ext cx="34747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5193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Kumar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0" y="544982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Head, Bharat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102352"/>
            <a:ext cx="12192000" cy="1755648"/>
          </a:xfrm>
          <a:prstGeom prst="rect">
            <a:avLst/>
          </a:prstGeom>
          <a:solidFill>
            <a:srgbClr val="162D4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Modernise Your Factory?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hundreds of Indian manufacturers already using Kinto Smart Ops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manage their operations end-to-end.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3474720" cy="2194560"/>
          </a:xfrm>
          <a:prstGeom prst="rect">
            <a:avLst>
              <a:gd name="adj" fmla="val 4167"/>
            </a:avLst>
          </a:prstGeom>
          <a:solidFill>
            <a:srgbClr val="2563E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Trial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 required.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 at kintoops.in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2560320"/>
            <a:ext cx="3474720" cy="2194560"/>
          </a:xfrm>
          <a:prstGeom prst="rect">
            <a:avLst>
              <a:gd name="adj" fmla="val 4167"/>
            </a:avLst>
          </a:prstGeom>
          <a:solidFill>
            <a:srgbClr val="162D4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32461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 live walkthrough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your factory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2560320"/>
            <a:ext cx="3474720" cy="2194560"/>
          </a:xfrm>
          <a:prstGeom prst="rect">
            <a:avLst>
              <a:gd name="adj" fmla="val 4167"/>
            </a:avLst>
          </a:prstGeom>
          <a:solidFill>
            <a:srgbClr val="162D4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Sales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32461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hello@kintoops.in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XXXXX XXXXX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166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www.kintoops.in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557784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· Made in India · hello@kintoops.in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Compare to the Competition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Indian manufacturing — not adapted from a global product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" y="1188720"/>
            <a:ext cx="256032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188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1188720"/>
            <a:ext cx="18288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188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Kinto Smart Ops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26280" y="1188720"/>
            <a:ext cx="164592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188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/ Busy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1188720"/>
            <a:ext cx="164592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188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Books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18120" y="1188720"/>
            <a:ext cx="201168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1188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B1 / MS Dynamics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829800" y="1188720"/>
            <a:ext cx="164592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0" y="1188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ERPNext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7160" y="1554480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155448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GST Built-In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97480" y="1554480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155448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26280" y="1554480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155448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72200" y="1554480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55448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818120" y="1554480"/>
            <a:ext cx="20116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155448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Add-on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829800" y="1554480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0" y="155448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37160" y="1993392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199339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/ BOM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97480" y="1993392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199339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26280" y="1993392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199339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72200" y="1993392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199339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818120" y="1993392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0" y="199339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829800" y="1993392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5520" y="199339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37160" y="2432304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2880" y="243230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Integration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697480" y="2432304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0" y="243230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Native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26280" y="2432304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243230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72200" y="2432304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243230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818120" y="2432304"/>
            <a:ext cx="20116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63840" y="2432304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829800" y="2432304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75520" y="243230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37160" y="2871216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2880" y="287121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Payroll Built-In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697480" y="2871216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0" y="2871216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526280" y="2871216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0" y="287121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172200" y="2871216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17920" y="287121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818120" y="2871216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63840" y="2871216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Add-on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9829800" y="2871216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875520" y="287121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137160" y="3310128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82880" y="331012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Lead Management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697480" y="3310128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0" y="331012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526280" y="3310128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0" y="33101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172200" y="3310128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17920" y="33101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Separate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818120" y="3310128"/>
            <a:ext cx="20116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863840" y="331012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Add-on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9829800" y="3310128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875520" y="33101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137160" y="3749040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82880" y="374904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Self-Service Portal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697480" y="3749040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743200" y="374904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526280" y="3749040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72000" y="374904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172200" y="3749040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17920" y="374904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7818120" y="3749040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863840" y="374904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Add-on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9829800" y="3749040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875520" y="374904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Basic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137160" y="4187952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82880" y="418795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697480" y="4187952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43200" y="418795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526280" y="4187952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572000" y="418795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172200" y="4187952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217920" y="418795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None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7818120" y="4187952"/>
            <a:ext cx="20116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863840" y="418795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Add-on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9829800" y="4187952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875520" y="418795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137160" y="4626864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82880" y="462686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(SaaS)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697480" y="4626864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743200" y="462686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4526280" y="4626864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572000" y="462686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Hybrid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6172200" y="4626864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217920" y="462686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7818120" y="4626864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863840" y="4626864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9829800" y="4626864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875520" y="462686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137160" y="5065776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82880" y="506577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2697480" y="5065776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743200" y="5065776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week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4526280" y="5065776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572000" y="506577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6172200" y="5065776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217920" y="506577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7818120" y="5065776"/>
            <a:ext cx="20116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863840" y="5065776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9829800" y="5065776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9875520" y="506577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weeks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137160" y="5504688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82880" y="550468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Price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2697480" y="5504688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743200" y="550468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₹999/mo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4526280" y="5504688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572000" y="55046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₹18k/yr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6172200" y="5504688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217920" y="55046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₹999/mo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7818120" y="5504688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863840" y="550468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₹2L+/yr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9829800" y="5504688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9875520" y="55046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Free*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137160" y="5943600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82880" y="594360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2697480" y="5943600"/>
            <a:ext cx="1828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2743200" y="594360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4526280" y="5943600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572000" y="594360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6172200" y="5943600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217920" y="594360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7818120" y="5943600"/>
            <a:ext cx="20116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7863840" y="594360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850" dirty="0"/>
          </a:p>
        </p:txBody>
      </p:sp>
      <p:sp>
        <p:nvSpPr>
          <p:cNvPr id="150" name="Shape 148"/>
          <p:cNvSpPr/>
          <p:nvPr/>
        </p:nvSpPr>
        <p:spPr>
          <a:xfrm>
            <a:off x="9829800" y="5943600"/>
            <a:ext cx="1645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9875520" y="594360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850" dirty="0"/>
          </a:p>
        </p:txBody>
      </p:sp>
      <p:sp>
        <p:nvSpPr>
          <p:cNvPr id="152" name="Shape 150"/>
          <p:cNvSpPr/>
          <p:nvPr/>
        </p:nvSpPr>
        <p:spPr>
          <a:xfrm>
            <a:off x="2697480" y="1188720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3" name="Shape 151"/>
          <p:cNvSpPr/>
          <p:nvPr/>
        </p:nvSpPr>
        <p:spPr>
          <a:xfrm>
            <a:off x="2697480" y="6327648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4" name="Text 152"/>
          <p:cNvSpPr/>
          <p:nvPr/>
        </p:nvSpPr>
        <p:spPr>
          <a:xfrm>
            <a:off x="137160" y="6473952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ERPNext is open-source but requires significant IT setup cost and expertise.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Customers Choose Kinto Smart Ops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unfair advantages — things no competitor does as well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234440"/>
            <a:ext cx="5760720" cy="1664208"/>
          </a:xfrm>
          <a:prstGeom prst="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" y="1344168"/>
            <a:ext cx="402336" cy="402336"/>
          </a:xfrm>
          <a:prstGeom prst="rect">
            <a:avLst>
              <a:gd name="adj" fmla="val 13636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" y="1344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34416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ERP with Native WhatsApp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8328" y="17830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Indian ERP has WhatsApp baked in. Operators submit checklists, receive payslips, and get alerts — all on WhatsApp. Zero app downloads required.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234440"/>
            <a:ext cx="5760720" cy="1664208"/>
          </a:xfrm>
          <a:prstGeom prst="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7648" y="1344168"/>
            <a:ext cx="402336" cy="402336"/>
          </a:xfrm>
          <a:prstGeom prst="rect">
            <a:avLst>
              <a:gd name="adj" fmla="val 13636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1344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12280" y="134416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+ HR + CRM in One Price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27648" y="17830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charge separately for manufacturing, HR, and CRM modules — or require different products. Kinto gives all three in one subscription.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3017520"/>
            <a:ext cx="5760720" cy="1664208"/>
          </a:xfrm>
          <a:prstGeom prst="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" y="3127248"/>
            <a:ext cx="402336" cy="402336"/>
          </a:xfrm>
          <a:prstGeom prst="rect">
            <a:avLst>
              <a:gd name="adj" fmla="val 13636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" y="31272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12724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Indian Manufacturing from Day One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8328" y="35661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GST, PT state slabs, TDS old/new regime, PF/ESI — all built-in. Not an afterthought or a plugin. Designed specifically for how Indian factories operate.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5760720" cy="1664208"/>
          </a:xfrm>
          <a:prstGeom prst="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3127248"/>
            <a:ext cx="402336" cy="402336"/>
          </a:xfrm>
          <a:prstGeom prst="rect">
            <a:avLst>
              <a:gd name="adj" fmla="val 13636"/>
            </a:avLst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6327648" y="31272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12280" y="312724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Self-Service No One Else Offers at This Price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27648" y="35661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 portals cost lakhs with SAP or Oracle. Kinto includes a full ESS portal — payslips, leave, tax declarations — in the Enterprise plan at ₹2,599/month.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4800600"/>
            <a:ext cx="5760720" cy="1664208"/>
          </a:xfrm>
          <a:prstGeom prst="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328" y="4910328"/>
            <a:ext cx="402336" cy="402336"/>
          </a:xfrm>
          <a:prstGeom prst="rect">
            <a:avLst>
              <a:gd name="adj" fmla="val 13636"/>
            </a:avLst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" y="49103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491032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Time-to-Value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38328" y="53492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are live within a week. No 6-month implementation projects, no consultants, no server setup. Start free trial today — go live next Monday.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4800600"/>
            <a:ext cx="5760720" cy="1664208"/>
          </a:xfrm>
          <a:prstGeom prst="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27648" y="4910328"/>
            <a:ext cx="402336" cy="402336"/>
          </a:xfrm>
          <a:prstGeom prst="rect">
            <a:avLst>
              <a:gd name="adj" fmla="val 13636"/>
            </a:avLst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6327648" y="49103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12280" y="491032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Pricing, No Hidden Costs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327648" y="53492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flat monthly price + ₹100–150 per extra user. No modules sold separately. No yearly lock-in forced on you. Cancel anytime.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2026-04-09T16:03:23Z</dcterms:created>
  <dcterms:modified xsi:type="dcterms:W3CDTF">2026-04-09T16:03:23Z</dcterms:modified>
</cp:coreProperties>
</file>